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ae91621f-54ab-9d0d-6cef-9a63cf27aa9a}">
          <p14:sldIdLst>
            <p14:sldId id="256"/>
          </p14:sldIdLst>
        </p14:section>
        <p14:section name="Presupuesto" id="{c21a2166-6866-4e97-b034-a6839866d8d7}">
          <p14:sldIdLst>
            <p14:sldId id="257"/>
          </p14:sldIdLst>
        </p14:section>
        <p14:section name="Decisión" id="{7ab6662c-99dd-4af4-c236-3afcf6c61956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3202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3202A"/>
                </a:solidFill>
                <a:latin typeface="+mn-lt"/>
              </a:rPr>
              <a:t>Citas como fuente en respuestas de IA (Google, EE. UU.)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Citas en Google AI Overviews</c:v>
                </c:pt>
              </c:strCache>
            </c:strRef>
          </c:tx>
          <c:spPr>
            <a:solidFill>
              <a:srgbClr val="D970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0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70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FB3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FB3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B3A5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3A52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GLT</c:v>
                  </c:pt>
                  <c:pt idx="1">
                    <c:v>BringGo</c:v>
                  </c:pt>
                  <c:pt idx="2">
                    <c:v>Go Freight AI</c:v>
                  </c:pt>
                  <c:pt idx="3">
                    <c:v>ExFreight</c:v>
                  </c:pt>
                  <c:pt idx="4">
                    <c:v>Warp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26</c:v>
                </c:pt>
                <c:pt idx="2">
                  <c:v>29</c:v>
                </c:pt>
                <c:pt idx="3">
                  <c:v>957</c:v>
                </c:pt>
                <c:pt idx="4">
                  <c:v>1138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320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8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Presupuesto base 2027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A52"/>
              </a:solidFill>
              <a:effectLst/>
            </c:spPr>
          </c:dPt>
          <c:dPt>
            <c:idx val="1"/>
            <c:bubble3D val="0"/>
            <c:spPr>
              <a:solidFill>
                <a:srgbClr val="D9701A"/>
              </a:solidFill>
              <a:effectLst/>
            </c:spPr>
          </c:dPt>
          <c:dPt>
            <c:idx val="2"/>
            <c:bubble3D val="0"/>
            <c:spPr>
              <a:solidFill>
                <a:srgbClr val="9FB3C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Pauta digital</c:v>
                </c:pt>
                <c:pt idx="1">
                  <c:v>SEO + GEO (contenido, /es/, herramientas, YouTube)</c:v>
                </c:pt>
                <c:pt idx="2">
                  <c:v>Herramientas y medición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96</c:v>
                </c:pt>
                <c:pt idx="1">
                  <c:v>60</c:v>
                </c:pt>
                <c:pt idx="2">
                  <c:v>10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3202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Mensaje: tenemos los mejores activos del nicho (integración nativa con Magaya, LTL de marca blanca para brokers, México, equipos bilingües), pero Google y la IA no nos ven. Unas 8 de cada 10 visitas orgánicas (~1.550 de ~1.859 al mes) llegan buscando "GLT" por nombre; en búsquedas de categoría no aparecemos. La IA de Google cita a Warp 1.138 veces y a nosotros 7. Además, cuando se le pregunta a la IA por un programa LTL de marca blanca para brokers, responde que no encuentra ninguno: es exactamente lo que vendemos. Fuente: OpenRush, 28 oct 2026 (estimaciones del proveedor).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Mensaje: no pedimos un cheque en blanco. US$166K base: US$96K de pauta (US$8K/mes), US$60K de SEO y GEO (contenido, landings, sitio en español, herramientas gratuitas, YouTube) y US$10K de herramientas y medición. Una reserva de US$24K solo se libera si el piloto funciona. Escenario de equilibrio (no pronóstico): con ~20–45 leads al mes y 10% de activación, son 24–54 cuentas nuevas al año; la pauta se paga si cada cuenta deja entre US$1,8K y US$4K de margen en sus primeros 6 meses. Finanzas debe validar ese margen. CPC: OpenRush; benchmarks: WordStream 2026, Metadata (LinkedIn).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Mensaje: la ventana es concreta. Warp domina el LTL doméstico pero su propio sitio dice que no cruza la frontera ni atiende en español. La MVE es obligatoria desde el 1 de octubre de 2026 y el corredor crece (+29,8% en camión, BTS ago 2026). Metas 2027: tráfico sin marca por encima del 40% del orgánico, citas en la IA de Google de 7 a 70 o más, aparecer en 5 de 8 preguntas de compradores a los 90 días. Son metas de seguimiento, no promesas: nadie puede garantizar posiciones ni que una IA recomiende a una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463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GLT Logistics · Presupuesto de marketing digital 2027 · Confidencial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Hoy solo nos encuentra quien ya nos conoce</a:t>
            </a:r>
            <a:endParaRPr lang="en-US" sz="2600" dirty="0"/>
          </a:p>
        </p:txBody>
      </p:sp>
      <p:sp>
        <p:nvSpPr>
          <p:cNvPr id="3" name="stat-card-1"/>
          <p:cNvSpPr/>
          <p:nvPr/>
        </p:nvSpPr>
        <p:spPr>
          <a:xfrm>
            <a:off x="457200" y="1097280"/>
            <a:ext cx="3291840" cy="1051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-num-1"/>
          <p:cNvSpPr txBox="1"/>
          <p:nvPr/>
        </p:nvSpPr>
        <p:spPr>
          <a:xfrm>
            <a:off x="640080" y="1188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de 10</a:t>
            </a:r>
            <a:endParaRPr lang="en-US" sz="3000" dirty="0"/>
          </a:p>
        </p:txBody>
      </p:sp>
      <p:sp>
        <p:nvSpPr>
          <p:cNvPr id="5" name="stat-label-1"/>
          <p:cNvSpPr txBox="1"/>
          <p:nvPr/>
        </p:nvSpPr>
        <p:spPr>
          <a:xfrm>
            <a:off x="640080" y="1664208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visitas orgánicas vienen de gente que ya busca "GLT" por nombre</a:t>
            </a:r>
            <a:endParaRPr lang="en-US" sz="1200" dirty="0"/>
          </a:p>
        </p:txBody>
      </p:sp>
      <p:sp>
        <p:nvSpPr>
          <p:cNvPr id="6" name="stat-card-2"/>
          <p:cNvSpPr/>
          <p:nvPr/>
        </p:nvSpPr>
        <p:spPr>
          <a:xfrm>
            <a:off x="457200" y="2286000"/>
            <a:ext cx="3291840" cy="1051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at-num-2"/>
          <p:cNvSpPr txBox="1"/>
          <p:nvPr/>
        </p:nvSpPr>
        <p:spPr>
          <a:xfrm>
            <a:off x="640080" y="2377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de 10</a:t>
            </a:r>
            <a:endParaRPr lang="en-US" sz="3000" dirty="0"/>
          </a:p>
        </p:txBody>
      </p:sp>
      <p:sp>
        <p:nvSpPr>
          <p:cNvPr id="8" name="stat-label-2"/>
          <p:cNvSpPr txBox="1"/>
          <p:nvPr/>
        </p:nvSpPr>
        <p:spPr>
          <a:xfrm>
            <a:off x="640080" y="2852928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búsquedas clave de nuestra categoría donde aparecemos en el top 30</a:t>
            </a:r>
            <a:endParaRPr lang="en-US" sz="1200" dirty="0"/>
          </a:p>
        </p:txBody>
      </p:sp>
      <p:sp>
        <p:nvSpPr>
          <p:cNvPr id="9" name="stat-card-3"/>
          <p:cNvSpPr/>
          <p:nvPr/>
        </p:nvSpPr>
        <p:spPr>
          <a:xfrm>
            <a:off x="457200" y="3474720"/>
            <a:ext cx="3291840" cy="1051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at-num-3"/>
          <p:cNvSpPr txBox="1"/>
          <p:nvPr/>
        </p:nvSpPr>
        <p:spPr>
          <a:xfrm>
            <a:off x="640080" y="35661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vs. 1.138</a:t>
            </a:r>
            <a:endParaRPr lang="en-US" sz="3000" dirty="0"/>
          </a:p>
        </p:txBody>
      </p:sp>
      <p:sp>
        <p:nvSpPr>
          <p:cNvPr id="11" name="stat-label-3"/>
          <p:cNvSpPr txBox="1"/>
          <p:nvPr/>
        </p:nvSpPr>
        <p:spPr>
          <a:xfrm>
            <a:off x="640080" y="4041648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veces que la IA de Google nos cita como fuente, frente a Warp</a:t>
            </a:r>
            <a:endParaRPr lang="en-US" sz="1200" dirty="0"/>
          </a:p>
        </p:txBody>
      </p:sp>
      <p:graphicFrame>
        <p:nvGraphicFramePr>
          <p:cNvPr id="12" name="chart-ai-citations" descr=""/>
          <p:cNvGraphicFramePr/>
          <p:nvPr/>
        </p:nvGraphicFramePr>
        <p:xfrm>
          <a:off x="4023360" y="1051560"/>
          <a:ext cx="46634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callout-traffic-value"/>
          <p:cNvSpPr/>
          <p:nvPr/>
        </p:nvSpPr>
        <p:spPr>
          <a:xfrm>
            <a:off x="4023360" y="3794760"/>
            <a:ext cx="4663440" cy="868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allout-traffic-text"/>
          <p:cNvSpPr txBox="1"/>
          <p:nvPr/>
        </p:nvSpPr>
        <p:spPr>
          <a:xfrm>
            <a:off x="4206240" y="3858768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El tráfico orgánico de Warp vale ~US$155K/mes en pauta.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 nuestro, ~US$18K. Ellos reciben gratis lo que a nosotros nos costaría comprar.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Pedimos US$166K, más US$24K atados a resultados</a:t>
            </a:r>
            <a:endParaRPr lang="en-US" sz="2600" dirty="0"/>
          </a:p>
        </p:txBody>
      </p:sp>
      <p:graphicFrame>
        <p:nvGraphicFramePr>
          <p:cNvPr id="3" name="chart-budget-split" descr=""/>
          <p:cNvGraphicFramePr/>
          <p:nvPr/>
        </p:nvGraphicFramePr>
        <p:xfrm>
          <a:off x="365760" y="1005840"/>
          <a:ext cx="35661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donut-center"/>
          <p:cNvSpPr txBox="1"/>
          <p:nvPr/>
        </p:nvSpPr>
        <p:spPr>
          <a:xfrm>
            <a:off x="1234440" y="17830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US$166K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base anual</a:t>
            </a:r>
            <a:endParaRPr lang="en-US" sz="2000" dirty="0"/>
          </a:p>
        </p:txBody>
      </p:sp>
      <p:graphicFrame>
        <p:nvGraphicFramePr>
          <p:cNvPr id="3" name="table-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0" y="1005840"/>
          <a:ext cx="44805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777240"/>
                <a:gridCol w="26517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3A52"/>
                          </a:solidFill>
                        </a:rPr>
                        <a:t>Pauta digital</a:t>
                      </a:r>
                      <a:endParaRPr lang="en-US" sz="1200" dirty="0"/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6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3A52"/>
                          </a:solidFill>
                        </a:rPr>
                        <a:t>US$96K</a:t>
                      </a:r>
                      <a:endParaRPr lang="en-US" sz="1200" dirty="0"/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6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202A"/>
                          </a:solidFill>
                        </a:rPr>
                        <a:t>US$8K/mes: Google de nicho (EE. UU. y México), LinkedIn a cuentas objetivo, Microsoft Ads, remarketing</a:t>
                      </a:r>
                      <a:endParaRPr lang="en-US" sz="1100" dirty="0"/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6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3A52"/>
                          </a:solidFill>
                        </a:rPr>
                        <a:t>SEO + GEO</a:t>
                      </a:r>
                      <a:endParaRPr lang="en-US" sz="1200" dirty="0"/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6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3A52"/>
                          </a:solidFill>
                        </a:rPr>
                        <a:t>US$60K</a:t>
                      </a:r>
                      <a:endParaRPr lang="en-US" sz="1200" dirty="0"/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6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202A"/>
                          </a:solidFill>
                        </a:rPr>
                        <a:t>Landings de forwarders, brokers y Magaya; sitio en español; calculadoras; canal de YouTube</a:t>
                      </a:r>
                      <a:endParaRPr lang="en-US" sz="1100" dirty="0"/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6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3A52"/>
                          </a:solidFill>
                        </a:rPr>
                        <a:t>Herramientas</a:t>
                      </a:r>
                      <a:endParaRPr lang="en-US" sz="1200" dirty="0"/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6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3A52"/>
                          </a:solidFill>
                        </a:rPr>
                        <a:t>US$10K</a:t>
                      </a:r>
                      <a:endParaRPr lang="en-US" sz="1200" dirty="0"/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6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3202A"/>
                          </a:solidFill>
                        </a:rPr>
                        <a:t>Datos SEO, monitoreo de anuncios de la competencia y medición hasta el primer envío</a:t>
                      </a:r>
                      <a:endParaRPr lang="en-US" sz="1100" dirty="0"/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6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9701A"/>
                          </a:solidFill>
                        </a:rPr>
                        <a:t>Reserva</a:t>
                      </a:r>
                      <a:endParaRPr lang="en-US" sz="1200" dirty="0"/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6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9701A"/>
                          </a:solidFill>
                        </a:rPr>
                        <a:t>US$24K</a:t>
                      </a:r>
                      <a:endParaRPr lang="en-US" sz="1200" dirty="0"/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6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9701A"/>
                          </a:solidFill>
                        </a:rPr>
                        <a:t>Solo se libera si el piloto cumple la meta de costo por cuenta activada</a:t>
                      </a:r>
                      <a:endParaRPr lang="en-US" sz="1100" dirty="0"/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6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d-how"/>
          <p:cNvSpPr/>
          <p:nvPr/>
        </p:nvSpPr>
        <p:spPr>
          <a:xfrm>
            <a:off x="4206240" y="3429000"/>
            <a:ext cx="4480560" cy="1234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-how"/>
          <p:cNvSpPr txBox="1"/>
          <p:nvPr/>
        </p:nvSpPr>
        <p:spPr>
          <a:xfrm>
            <a:off x="4343400" y="3474720"/>
            <a:ext cx="4251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Cómo lo invertimos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Primero 90 días de piloto, con la casa en orden y la medición lista.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Cada canal se escala o se corta según su costo por cuenta que hace su primer envío.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No competimos por "LTL quote" (US$30,64 por clic): vamos al nicho y a México (US$2,94).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no ocupamos este espacio en 2027, lo ocupará otro</a:t>
            </a:r>
            <a:endParaRPr lang="en-US" sz="2600" dirty="0"/>
          </a:p>
        </p:txBody>
      </p:sp>
      <p:sp>
        <p:nvSpPr>
          <p:cNvPr id="3" name="col-gain"/>
          <p:cNvSpPr/>
          <p:nvPr/>
        </p:nvSpPr>
        <p:spPr>
          <a:xfrm>
            <a:off x="457200" y="1051560"/>
            <a:ext cx="3977640" cy="25146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ol-gain-title"/>
          <p:cNvSpPr txBox="1"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ganamos</a:t>
            </a:r>
            <a:endParaRPr lang="en-US" sz="1600" dirty="0"/>
          </a:p>
        </p:txBody>
      </p:sp>
      <p:sp>
        <p:nvSpPr>
          <p:cNvPr id="5" name="col-gain-list"/>
          <p:cNvSpPr txBox="1"/>
          <p:nvPr/>
        </p:nvSpPr>
        <p:spPr>
          <a:xfrm>
            <a:off x="640080" y="1572768"/>
            <a:ext cx="3611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Ser la respuesta de Google y la IA a "LTL para forwarders y brokers" y al cruce a México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Leads de forwarders, brokers y exportadores mexicanos, con clics 5–10 veces más baratos en México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Un activo propio que sigue trayendo clientes cuando apagamos la pauta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Llegar antes a un corredor que creció 29,8% en camión (ago 2026)</a:t>
            </a:r>
            <a:endParaRPr lang="en-US" sz="1200" dirty="0"/>
          </a:p>
        </p:txBody>
      </p:sp>
      <p:sp>
        <p:nvSpPr>
          <p:cNvPr id="6" name="col-lose"/>
          <p:cNvSpPr/>
          <p:nvPr/>
        </p:nvSpPr>
        <p:spPr>
          <a:xfrm>
            <a:off x="4709160" y="1051560"/>
            <a:ext cx="3977640" cy="25146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ol-lose-title"/>
          <p:cNvSpPr txBox="1"/>
          <p:nvPr/>
        </p:nvSpPr>
        <p:spPr>
          <a:xfrm>
            <a:off x="4892040" y="11430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perdemos si no lo hacemos</a:t>
            </a:r>
            <a:endParaRPr lang="en-US" sz="1600" dirty="0"/>
          </a:p>
        </p:txBody>
      </p:sp>
      <p:sp>
        <p:nvSpPr>
          <p:cNvPr id="8" name="col-lose-list"/>
          <p:cNvSpPr txBox="1"/>
          <p:nvPr/>
        </p:nvSpPr>
        <p:spPr>
          <a:xfrm>
            <a:off x="4892040" y="1572768"/>
            <a:ext cx="3611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Warp, Go Freight y ExFreight siguen siendo la respuesta por defecto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Nuestra ventaja con Magaya se diluye cuando otros se integren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Seguimos dependiendo solo de ventas directas y del boca a boca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Los agentes de IA ya cotizan y reservan fletes: si no nos leen, no nos compran</a:t>
            </a:r>
            <a:endParaRPr lang="en-US" sz="1200" dirty="0"/>
          </a:p>
        </p:txBody>
      </p:sp>
      <p:sp>
        <p:nvSpPr>
          <p:cNvPr id="9" name="kpi-num-1"/>
          <p:cNvSpPr txBox="1"/>
          <p:nvPr/>
        </p:nvSpPr>
        <p:spPr>
          <a:xfrm>
            <a:off x="457200" y="37033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≥40%</a:t>
            </a:r>
            <a:endParaRPr lang="en-US" sz="2200" dirty="0"/>
          </a:p>
        </p:txBody>
      </p:sp>
      <p:sp>
        <p:nvSpPr>
          <p:cNvPr id="10" name="kpi-label-1"/>
          <p:cNvSpPr txBox="1"/>
          <p:nvPr/>
        </p:nvSpPr>
        <p:spPr>
          <a:xfrm>
            <a:off x="457200" y="4160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tráfico orgánico sin marca (hoy ~17%)</a:t>
            </a:r>
            <a:endParaRPr lang="en-US" sz="1100" dirty="0"/>
          </a:p>
        </p:txBody>
      </p:sp>
      <p:sp>
        <p:nvSpPr>
          <p:cNvPr id="11" name="kpi-num-2"/>
          <p:cNvSpPr txBox="1"/>
          <p:nvPr/>
        </p:nvSpPr>
        <p:spPr>
          <a:xfrm>
            <a:off x="2532888" y="37033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→ 70+</a:t>
            </a:r>
            <a:endParaRPr lang="en-US" sz="2200" dirty="0"/>
          </a:p>
        </p:txBody>
      </p:sp>
      <p:sp>
        <p:nvSpPr>
          <p:cNvPr id="12" name="kpi-label-2"/>
          <p:cNvSpPr txBox="1"/>
          <p:nvPr/>
        </p:nvSpPr>
        <p:spPr>
          <a:xfrm>
            <a:off x="2532888" y="4160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citas en la IA de Google</a:t>
            </a:r>
            <a:endParaRPr lang="en-US" sz="1100" dirty="0"/>
          </a:p>
        </p:txBody>
      </p:sp>
      <p:sp>
        <p:nvSpPr>
          <p:cNvPr id="13" name="kpi-num-3"/>
          <p:cNvSpPr txBox="1"/>
          <p:nvPr/>
        </p:nvSpPr>
        <p:spPr>
          <a:xfrm>
            <a:off x="4608576" y="37033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de 8</a:t>
            </a:r>
            <a:endParaRPr lang="en-US" sz="2200" dirty="0"/>
          </a:p>
        </p:txBody>
      </p:sp>
      <p:sp>
        <p:nvSpPr>
          <p:cNvPr id="14" name="kpi-label-3"/>
          <p:cNvSpPr txBox="1"/>
          <p:nvPr/>
        </p:nvSpPr>
        <p:spPr>
          <a:xfrm>
            <a:off x="4608576" y="4160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preguntas de compradores donde aparecemos (hoy 3)</a:t>
            </a:r>
            <a:endParaRPr lang="en-US" sz="1100" dirty="0"/>
          </a:p>
        </p:txBody>
      </p:sp>
      <p:sp>
        <p:nvSpPr>
          <p:cNvPr id="15" name="kpi-num-4"/>
          <p:cNvSpPr txBox="1"/>
          <p:nvPr/>
        </p:nvSpPr>
        <p:spPr>
          <a:xfrm>
            <a:off x="6684264" y="37033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días</a:t>
            </a:r>
            <a:endParaRPr lang="en-US" sz="2200" dirty="0"/>
          </a:p>
        </p:txBody>
      </p:sp>
      <p:sp>
        <p:nvSpPr>
          <p:cNvPr id="16" name="kpi-label-4"/>
          <p:cNvSpPr txBox="1"/>
          <p:nvPr/>
        </p:nvSpPr>
        <p:spPr>
          <a:xfrm>
            <a:off x="6684264" y="4160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para decidir: escalar o cortar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T Budget 2027">
  <a:themeElements>
    <a:clrScheme name="GLT Budget 2027">
      <a:dk1>
        <a:srgbClr val="13202A"/>
      </a:dk1>
      <a:lt1>
        <a:srgbClr val="FFFFFF"/>
      </a:lt1>
      <a:dk2>
        <a:srgbClr val="1B3A52"/>
      </a:dk2>
      <a:lt2>
        <a:srgbClr val="EEF2F5"/>
      </a:lt2>
      <a:accent1>
        <a:srgbClr val="D9701A"/>
      </a:accent1>
      <a:accent2>
        <a:srgbClr val="1B3A52"/>
      </a:accent2>
      <a:accent3>
        <a:srgbClr val="5A6873"/>
      </a:accent3>
      <a:accent4>
        <a:srgbClr val="1F7A4D"/>
      </a:accent4>
      <a:accent5>
        <a:srgbClr val="B3261E"/>
      </a:accent5>
      <a:accent6>
        <a:srgbClr val="9FB3C4"/>
      </a:accent6>
      <a:hlink>
        <a:srgbClr val="1B3A52"/>
      </a:hlink>
      <a:folHlink>
        <a:srgbClr val="5A6873"/>
      </a:folHlink>
    </a:clrScheme>
    <a:fontScheme name="GLT Budget 2027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GLT Logistics · Presupuesto de marketing digital 2027</dc:title>
  <dc:subject>PptxGenJS Presentation</dc:subject>
  <dc:creator>GLT Logistics · Marketing</dc:creator>
  <cp:lastModifiedBy>GLT Logistics · Marketing</cp:lastModifiedBy>
  <cp:revision>1</cp:revision>
  <dcterms:created xsi:type="dcterms:W3CDTF">2026-10-28T15:20:27Z</dcterms:created>
  <dcterms:modified xsi:type="dcterms:W3CDTF">2026-10-28T15:20:27Z</dcterms:modified>
</cp:coreProperties>
</file>