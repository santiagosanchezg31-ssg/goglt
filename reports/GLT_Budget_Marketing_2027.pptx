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sultados 2026" id="{471e41cd-3711-af9a-059d-1695a7716768}">
          <p14:sldIdLst>
            <p14:sldId id="256"/>
          </p14:sldIdLst>
        </p14:section>
        <p14:section name="Presupuesto 2027" id="{839461ac-67ca-3d83-68dd-6a60b7d4ed51}">
          <p14:sldIdLst>
            <p14:sldId id="257"/>
          </p14:sldIdLst>
        </p14:section>
        <p14:section name="Metas 2027" id="{9b7dd0cf-80e9-5c89-7619-cd6eacf082ee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3202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3202A"/>
                </a:solidFill>
                <a:latin typeface="+mn-lt"/>
              </a:rPr>
              <a:t>Embudo 2026 por canal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Pauta (Google + Meta)</c:v>
                </c:pt>
              </c:strCache>
            </c:strRef>
          </c:tx>
          <c:spPr>
            <a:solidFill>
              <a:srgbClr val="D970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0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Leads</c:v>
                  </c:pt>
                  <c:pt idx="1">
                    <c:v>Calificados</c:v>
                  </c:pt>
                  <c:pt idx="2">
                    <c:v>Clientes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18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Orgánico + directo</c:v>
                </c:pt>
              </c:strCache>
            </c:strRef>
          </c:tx>
          <c:spPr>
            <a:solidFill>
              <a:srgbClr val="1B3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0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Leads</c:v>
                  </c:pt>
                  <c:pt idx="1">
                    <c:v>Calificados</c:v>
                  </c:pt>
                  <c:pt idx="2">
                    <c:v>Clientes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186</c:v>
                </c:pt>
                <c:pt idx="1">
                  <c:v>90</c:v>
                </c:pt>
                <c:pt idx="2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320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8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3202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3202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3202A"/>
                </a:solidFill>
                <a:latin typeface="+mn-lt"/>
              </a:rPr>
              <a:t>Inversión de marketing digital (US$ miles)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Pauta digital</c:v>
                </c:pt>
              </c:strCache>
            </c:strRef>
          </c:tx>
          <c:spPr>
            <a:solidFill>
              <a:srgbClr val="D9701A"/>
            </a:solidFill>
            <a:effectLst/>
          </c:spPr>
          <c:invertIfNegative val="0"/>
          <c:dLbls>
            <c:numFmt formatCode="0.##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2026 ejecutado</c:v>
                  </c:pt>
                  <c:pt idx="1">
                    <c:v>2027 solicitado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Agencia: SEO, GEO, web y gestión de pauta (COP 45M ≈ US$11,25K)</c:v>
                </c:pt>
              </c:strCache>
            </c:strRef>
          </c:tx>
          <c:spPr>
            <a:solidFill>
              <a:srgbClr val="1B3A52"/>
            </a:solidFill>
            <a:effectLst/>
          </c:spPr>
          <c:invertIfNegative val="0"/>
          <c:dLbls>
            <c:numFmt formatCode="0.##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2026 ejecutado</c:v>
                  </c:pt>
                  <c:pt idx="1">
                    <c:v>2027 solicitado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11.25</c:v>
                </c:pt>
              </c:numCache>
            </c:numRef>
          </c:val>
        </c:ser>
        <c:dLbls>
          <c:numFmt formatCode="0.##;;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8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3202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3202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3202A"/>
                </a:solidFill>
                <a:latin typeface="+mn-lt"/>
              </a:rPr>
              <a:t>Clientes nuevos: 2026 vs. punto de equilibrio 2027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 real</c:v>
                </c:pt>
              </c:strCache>
            </c:strRef>
          </c:tx>
          <c:spPr>
            <a:solidFill>
              <a:srgbClr val="9FB3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0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Clientes por pauta</c:v>
                  </c:pt>
                  <c:pt idx="1">
                    <c:v>Clientes orgánico + directo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 mínimo para cubrir la inversión</c:v>
                </c:pt>
              </c:strCache>
            </c:strRef>
          </c:tx>
          <c:spPr>
            <a:solidFill>
              <a:srgbClr val="D970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0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Clientes por pauta</c:v>
                  </c:pt>
                  <c:pt idx="1">
                    <c:v>Clientes orgánico + directo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</c:v>
                </c:pt>
                <c:pt idx="1">
                  <c:v>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320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8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3202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 2026 (internos): pauta US$15.000 (US$11.000 en Google Search y US$4.000 en Meta) → 70 leads, 18 calificados, 1 venta de US$14.330. Costo por lead US$214, por lead calificado US$833, por cliente US$15.000; revenue/inversión 0,96x. Orgánico + directo → 186 leads, 90 calificados, 18 clientes, US$83.000. Calidad: 48% de los leads orgánicos califica (pauta 26%) y 20% de los calificados cierra (pauta 5,6%). Matiz: 'orgánico + directo' incluye a quien ya nos conoce; según OpenRush (28 oct 2026), 8 de cada 10 visitas orgánicas buscan 'GLT' por nombre. Con 1 sola venta por pauta la muestra es chica: la conclusión no es que la pauta no sirva, sino que como la hicimos no se pagó.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que pedimos: US$24.000 de pauta digital de marca GLT (leads y awareness) y COP 45 millones para la agencia digital de SEO, GEO y optimización del sitio. Conversión de referencia: COP 45M ≈ US$11.250 a la TRM de $4.000 usada en la matriz de evaluación de agencias; Finanzas debe ajustarla a la TRM vigente. Total ≈ US$35.250 frente a US$15.000 de pauta en 2026. La pauta sube 60%, pero cambia de enfoque: la de 2026 no se pagó. Por eso Meta sale de la captación en frío, Google se concentra en búsquedas de nicho y en español en México, y hay regla de pausa en el Q2. La agencia invierte en el canal que ya trae el 95% de los clientes, para que también traiga a quien todavía no nos conoce. La pauta la gestiona la agencia y su fee ya está dentro de los COP 45M: los US$24K van completos a medios.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de equilibrio con datos de 2026 (sobre revenue, no sobre margen). Pauta: US$24.000 ÷ US$5.123 de revenue promedio por cliente (US$97.330 ÷ 19) ≈ 4,7 → 5 clientes; en 2026 fue 1. Para lograrlo con un volumen de leads similar hay que mejorar la calidad: más leads calificados y más cierre, por eso cambia la segmentación. Agencia: ≈US$11.250 ÷ US$4.611 de revenue promedio por cliente orgánico (US$83.000 ÷ 18) ≈ 2,4 → 3 clientes más, de 18 a 21; al 9,7% de conversión de lead a cliente orgánico de 2026, son unos 31 leads orgánicos más. En conjunto, ≈US$35.250 ÷ US$5.123 ≈ 7 clientes atribuibles cubren todo el programa. El equilibrio es sobre revenue porque GLT aún no tiene definidos margen bruto ni recompra por cliente; definirlos con Finanzas es una tarea de 2027. Las metas son propuestas de seguimiento, no promesas.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GLT Logistics · Presupuesto de marketing digital 2027 · Confidencial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2026: el orgánico trajo 95% de los clientes</a:t>
            </a:r>
            <a:endParaRPr lang="en-US" sz="2600" dirty="0"/>
          </a:p>
        </p:txBody>
      </p:sp>
      <p:graphicFrame>
        <p:nvGraphicFramePr>
          <p:cNvPr id="3" name="chart-funnel-2026" descr=""/>
          <p:cNvGraphicFramePr/>
          <p:nvPr/>
        </p:nvGraphicFramePr>
        <p:xfrm>
          <a:off x="365760" y="100584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-brand-note"/>
          <p:cNvSpPr/>
          <p:nvPr/>
        </p:nvSpPr>
        <p:spPr>
          <a:xfrm>
            <a:off x="457200" y="3840480"/>
            <a:ext cx="4389120" cy="822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brand-note"/>
          <p:cNvSpPr txBox="1"/>
          <p:nvPr/>
        </p:nvSpPr>
        <p:spPr>
          <a:xfrm>
            <a:off x="594360" y="388620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Pero el motor depende de la marca: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8 de cada 10 visitas orgánicas buscan "GLT" por nombre, y la IA de Google nos cita 7 veces frente a 1.138 de Warp.</a:t>
            </a:r>
            <a:endParaRPr lang="en-US" sz="1200" dirty="0"/>
          </a:p>
        </p:txBody>
      </p:sp>
      <p:sp>
        <p:nvSpPr>
          <p:cNvPr id="6" name="stat-card-1"/>
          <p:cNvSpPr/>
          <p:nvPr/>
        </p:nvSpPr>
        <p:spPr>
          <a:xfrm>
            <a:off x="5212080" y="1005840"/>
            <a:ext cx="3474720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-num-1"/>
          <p:cNvSpPr txBox="1"/>
          <p:nvPr/>
        </p:nvSpPr>
        <p:spPr>
          <a:xfrm>
            <a:off x="5394960" y="1097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 · 85%</a:t>
            </a:r>
            <a:endParaRPr lang="en-US" sz="2600" dirty="0"/>
          </a:p>
        </p:txBody>
      </p:sp>
      <p:sp>
        <p:nvSpPr>
          <p:cNvPr id="8" name="stat-label-1"/>
          <p:cNvSpPr txBox="1"/>
          <p:nvPr/>
        </p:nvSpPr>
        <p:spPr>
          <a:xfrm>
            <a:off x="5394960" y="15544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de los clientes nuevos (18 de 19) y del revenue (US$83K de US$97K) vinieron de orgánico + directo</a:t>
            </a:r>
            <a:endParaRPr lang="en-US" sz="1150" dirty="0"/>
          </a:p>
        </p:txBody>
      </p:sp>
      <p:sp>
        <p:nvSpPr>
          <p:cNvPr id="9" name="stat-card-2"/>
          <p:cNvSpPr/>
          <p:nvPr/>
        </p:nvSpPr>
        <p:spPr>
          <a:xfrm>
            <a:off x="5212080" y="2240280"/>
            <a:ext cx="3474720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-num-2"/>
          <p:cNvSpPr txBox="1"/>
          <p:nvPr/>
        </p:nvSpPr>
        <p:spPr>
          <a:xfrm>
            <a:off x="539496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US$15K</a:t>
            </a:r>
            <a:endParaRPr lang="en-US" sz="2600" dirty="0"/>
          </a:p>
        </p:txBody>
      </p:sp>
      <p:sp>
        <p:nvSpPr>
          <p:cNvPr id="11" name="stat-label-2"/>
          <p:cNvSpPr txBox="1"/>
          <p:nvPr/>
        </p:nvSpPr>
        <p:spPr>
          <a:xfrm>
            <a:off x="5394960" y="27889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costó el único cliente de la pauta: US$11K en Google y US$4K en Meta, con revenue de 0,96x</a:t>
            </a:r>
            <a:endParaRPr lang="en-US" sz="1150" dirty="0"/>
          </a:p>
        </p:txBody>
      </p:sp>
      <p:sp>
        <p:nvSpPr>
          <p:cNvPr id="12" name="stat-card-3"/>
          <p:cNvSpPr/>
          <p:nvPr/>
        </p:nvSpPr>
        <p:spPr>
          <a:xfrm>
            <a:off x="5212080" y="3474720"/>
            <a:ext cx="3474720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-num-3"/>
          <p:cNvSpPr txBox="1"/>
          <p:nvPr/>
        </p:nvSpPr>
        <p:spPr>
          <a:xfrm>
            <a:off x="5394960" y="3566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 vs 5,6%</a:t>
            </a:r>
            <a:endParaRPr lang="en-US" sz="2600" dirty="0"/>
          </a:p>
        </p:txBody>
      </p:sp>
      <p:sp>
        <p:nvSpPr>
          <p:cNvPr id="14" name="stat-label-3"/>
          <p:cNvSpPr txBox="1"/>
          <p:nvPr/>
        </p:nvSpPr>
        <p:spPr>
          <a:xfrm>
            <a:off x="5394960" y="40233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de los leads calificados se volvieron clientes: orgánico vs. pauta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2027: US$24K en pauta y COP 45M en agencia</a:t>
            </a:r>
            <a:endParaRPr lang="en-US" sz="2600" dirty="0"/>
          </a:p>
        </p:txBody>
      </p:sp>
      <p:graphicFrame>
        <p:nvGraphicFramePr>
          <p:cNvPr id="3" name="chart-spend" descr=""/>
          <p:cNvGraphicFramePr/>
          <p:nvPr/>
        </p:nvGraphicFramePr>
        <p:xfrm>
          <a:off x="365760" y="1005840"/>
          <a:ext cx="39319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-paid"/>
          <p:cNvSpPr/>
          <p:nvPr/>
        </p:nvSpPr>
        <p:spPr>
          <a:xfrm>
            <a:off x="4526280" y="1005840"/>
            <a:ext cx="416052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paid"/>
          <p:cNvSpPr txBox="1"/>
          <p:nvPr/>
        </p:nvSpPr>
        <p:spPr>
          <a:xfrm>
            <a:off x="4663440" y="1069848"/>
            <a:ext cx="39319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Pauta: US$24K (US$2K/mes), rediseñada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Google en búsquedas de nicho (forwarders, brokers, Magaya, cruce a México) y en español en México.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Meta (US$4K en 2026) sale de la captación en frío; queda para remarketing y awareness.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 libera por trimestre y se pausa si al cierre del Q2 el costo por cliente supera US$8K.</a:t>
            </a:r>
            <a:endParaRPr lang="en-US" sz="1100" dirty="0"/>
          </a:p>
        </p:txBody>
      </p:sp>
      <p:sp>
        <p:nvSpPr>
          <p:cNvPr id="6" name="card-agency"/>
          <p:cNvSpPr/>
          <p:nvPr/>
        </p:nvSpPr>
        <p:spPr>
          <a:xfrm>
            <a:off x="4526280" y="2834640"/>
            <a:ext cx="4160520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-agency"/>
          <p:cNvSpPr txBox="1"/>
          <p:nvPr/>
        </p:nvSpPr>
        <p:spPr>
          <a:xfrm>
            <a:off x="4663440" y="2898648"/>
            <a:ext cx="39319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Agencia: COP 45M (≈ COP 3,75M/mes)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SEO: arreglar lo técnico del sitio y crear páginas para lo que la gente busca.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GEO: que Google y la IA nos encuentren y nos citen, no solo por nombre.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Optimización web: convertir mejor el tráfico que ya trae 95% de los clientes.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chemeClr val="tx1"/>
                </a:solidFill>
              </a:rPr>
              <a:t>Incluye la gestión de los US$24K de pauta.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pagarse, cada frente necesita pocos clientes más</a:t>
            </a:r>
            <a:endParaRPr lang="en-US" sz="2600" dirty="0"/>
          </a:p>
        </p:txBody>
      </p:sp>
      <p:graphicFrame>
        <p:nvGraphicFramePr>
          <p:cNvPr id="3" name="chart-breakeven" descr=""/>
          <p:cNvGraphicFramePr/>
          <p:nvPr/>
        </p:nvGraphicFramePr>
        <p:xfrm>
          <a:off x="365760" y="1005840"/>
          <a:ext cx="42062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e-card-1"/>
          <p:cNvSpPr/>
          <p:nvPr/>
        </p:nvSpPr>
        <p:spPr>
          <a:xfrm>
            <a:off x="4846320" y="1005840"/>
            <a:ext cx="384048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e-num-1"/>
          <p:cNvSpPr txBox="1"/>
          <p:nvPr/>
        </p:nvSpPr>
        <p:spPr>
          <a:xfrm>
            <a:off x="4983480" y="10698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clientes</a:t>
            </a:r>
            <a:endParaRPr lang="en-US" sz="2000" dirty="0"/>
          </a:p>
        </p:txBody>
      </p:sp>
      <p:sp>
        <p:nvSpPr>
          <p:cNvPr id="6" name="be-label-1"/>
          <p:cNvSpPr txBox="1"/>
          <p:nvPr/>
        </p:nvSpPr>
        <p:spPr>
          <a:xfrm>
            <a:off x="4983480" y="143560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por pauta cubren los US$24K (revenue promedio por cliente 2026: US$5.123). En 2026 fue 1.</a:t>
            </a:r>
            <a:endParaRPr lang="en-US" sz="1100" dirty="0"/>
          </a:p>
        </p:txBody>
      </p:sp>
      <p:sp>
        <p:nvSpPr>
          <p:cNvPr id="7" name="be-card-2"/>
          <p:cNvSpPr/>
          <p:nvPr/>
        </p:nvSpPr>
        <p:spPr>
          <a:xfrm>
            <a:off x="4846320" y="1965960"/>
            <a:ext cx="384048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e-num-2"/>
          <p:cNvSpPr txBox="1"/>
          <p:nvPr/>
        </p:nvSpPr>
        <p:spPr>
          <a:xfrm>
            <a:off x="4983480" y="20299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 clientes</a:t>
            </a:r>
            <a:endParaRPr lang="en-US" sz="2000" dirty="0"/>
          </a:p>
        </p:txBody>
      </p:sp>
      <p:sp>
        <p:nvSpPr>
          <p:cNvPr id="9" name="be-label-2"/>
          <p:cNvSpPr txBox="1"/>
          <p:nvPr/>
        </p:nvSpPr>
        <p:spPr>
          <a:xfrm>
            <a:off x="4983480" y="239572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orgánicos cubren la agencia (≈US$11,25K ÷ US$4.611 por cliente). De 18 a 21: +17%.</a:t>
            </a:r>
            <a:endParaRPr lang="en-US" sz="1100" dirty="0"/>
          </a:p>
        </p:txBody>
      </p:sp>
      <p:sp>
        <p:nvSpPr>
          <p:cNvPr id="10" name="text-lose"/>
          <p:cNvSpPr txBox="1"/>
          <p:nvPr/>
        </p:nvSpPr>
        <p:spPr>
          <a:xfrm>
            <a:off x="4846320" y="30175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5"/>
                </a:solidFill>
              </a:rPr>
              <a:t>Si no lo hacemos: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seguimos dependiendo de la marca y los referidos, mientras Warp, Go Freight y ExFreight son la respuesta por defecto en Google y en la IA.</a:t>
            </a:r>
            <a:endParaRPr lang="en-US" sz="1150" dirty="0"/>
          </a:p>
        </p:txBody>
      </p:sp>
      <p:sp>
        <p:nvSpPr>
          <p:cNvPr id="11" name="text-kpis"/>
          <p:cNvSpPr txBox="1"/>
          <p:nvPr/>
        </p:nvSpPr>
        <p:spPr>
          <a:xfrm>
            <a:off x="4846320" y="37947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4"/>
                </a:solidFill>
              </a:rPr>
              <a:t>Metas que proponemos: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costo por cliente en pauta de US$15K a ≤US$5K y cierre de calificados de 5,6% a ≥12%. En 2027 definimos margen y recompra con Finanzas.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T Budget 2027">
  <a:themeElements>
    <a:clrScheme name="GLT Budget 2027">
      <a:dk1>
        <a:srgbClr val="13202A"/>
      </a:dk1>
      <a:lt1>
        <a:srgbClr val="FFFFFF"/>
      </a:lt1>
      <a:dk2>
        <a:srgbClr val="1B3A52"/>
      </a:dk2>
      <a:lt2>
        <a:srgbClr val="EEF2F5"/>
      </a:lt2>
      <a:accent1>
        <a:srgbClr val="D9701A"/>
      </a:accent1>
      <a:accent2>
        <a:srgbClr val="1B3A52"/>
      </a:accent2>
      <a:accent3>
        <a:srgbClr val="5A6873"/>
      </a:accent3>
      <a:accent4>
        <a:srgbClr val="1F7A4D"/>
      </a:accent4>
      <a:accent5>
        <a:srgbClr val="B3261E"/>
      </a:accent5>
      <a:accent6>
        <a:srgbClr val="9FB3C4"/>
      </a:accent6>
      <a:hlink>
        <a:srgbClr val="1B3A52"/>
      </a:hlink>
      <a:folHlink>
        <a:srgbClr val="5A6873"/>
      </a:folHlink>
    </a:clrScheme>
    <a:fontScheme name="GLT Budget 2027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GLT Logistics · Presupuesto de marketing digital 2027</dc:title>
  <dc:subject>PptxGenJS Presentation</dc:subject>
  <dc:creator>GLT Logistics · Marketing</dc:creator>
  <cp:lastModifiedBy>GLT Logistics · Marketing</cp:lastModifiedBy>
  <cp:revision>1</cp:revision>
  <dcterms:created xsi:type="dcterms:W3CDTF">2026-10-28T15:56:28Z</dcterms:created>
  <dcterms:modified xsi:type="dcterms:W3CDTF">2026-10-28T15:56:28Z</dcterms:modified>
</cp:coreProperties>
</file>