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ultados 2026" id="{721b4bfd-d695-663d-ae09-3a52d486643d}">
          <p14:sldIdLst>
            <p14:sldId id="256"/>
          </p14:sldIdLst>
        </p14:section>
        <p14:section name="Presupuesto 2027" id="{74981d6d-0172-9c38-c6f1-d3e22f32737a}">
          <p14:sldIdLst>
            <p14:sldId id="257"/>
          </p14:sldIdLst>
        </p14:section>
        <p14:section name="Metas 2027" id="{f8576777-8ecb-b9ef-16bc-77edb98d6e85}">
          <p14:sldIdLst>
            <p14:sldId id="2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02A"/>
                </a:solidFill>
                <a:latin typeface="+mn-lt"/>
              </a:defRPr>
            </a:pPr>
            <a:r>
              <a:rPr sz="1200" b="0" i="0" u="none" strike="noStrike">
                <a:solidFill>
                  <a:srgbClr val="13202A"/>
                </a:solidFill>
                <a:latin typeface="+mn-lt"/>
              </a:rPr>
              <a:t>Embudo 2026 por canal</a:t>
            </a:r>
          </a:p>
        </c:rich>
      </c:tx>
      <c:layout/>
      <c:overlay val="0"/>
    </c:title>
    <c:autoTitleDeleted val="0"/>
    <c:plotArea>
      <c:layout/>
      <c:barChart>
        <c:barDir val="col"/>
        <c:grouping val="clustered"/>
        <c:varyColors val="0"/>
        <c:ser>
          <c:idx val="0"/>
          <c:order val="0"/>
          <c:tx>
            <c:strRef>
              <c:f>Sheet1!$B$1</c:f>
              <c:strCache>
                <c:ptCount val="1"/>
                <c:pt idx="0">
                  <c:v>Pauta (Google + Meta)</c:v>
                </c:pt>
              </c:strCache>
            </c:strRef>
          </c:tx>
          <c:spPr>
            <a:solidFill>
              <a:srgbClr val="D9701A"/>
            </a:solidFill>
            <a:effectLst/>
          </c:spPr>
          <c:invertIfNegative val="0"/>
          <c:dLbls>
            <c:numFmt formatCode="#,##0" sourceLinked="0"/>
            <c:txPr>
              <a:bodyPr/>
              <a:lstStyle/>
              <a:p>
                <a:pPr>
                  <a:defRPr b="0" i="0" strike="noStrike" sz="1100" u="none">
                    <a:solidFill>
                      <a:srgbClr val="13202A"/>
                    </a:solidFill>
                    <a:latin typeface="+mn-lt"/>
                  </a:defRPr>
                </a:pPr>
              </a:p>
            </c:txPr>
            <c:showLegendKey val="0"/>
            <c:showVal val="1"/>
            <c:showCatName val="0"/>
            <c:showSerName val="0"/>
            <c:showPercent val="0"/>
            <c:showBubbleSize val="0"/>
            <c:showLeaderLines val="0"/>
          </c:dLbls>
          <c:cat>
            <c:multiLvlStrRef>
              <c:f>Sheet1!$A$2:$A$4</c:f>
              <c:multiLvlStrCache>
                <c:ptCount val="3"/>
                <c:lvl>
                  <c:pt idx="0">
                    <c:v>Leads</c:v>
                  </c:pt>
                  <c:pt idx="1">
                    <c:v>Calificados</c:v>
                  </c:pt>
                  <c:pt idx="2">
                    <c:v>Clientes</c:v>
                  </c:pt>
                </c:lvl>
              </c:multiLvlStrCache>
            </c:multiLvlStrRef>
          </c:cat>
          <c:val>
            <c:numRef>
              <c:f>Sheet1!$B$2:$B$4</c:f>
              <c:numCache>
                <c:formatCode>General</c:formatCode>
                <c:ptCount val="3"/>
                <c:pt idx="0">
                  <c:v>70</c:v>
                </c:pt>
                <c:pt idx="1">
                  <c:v>18</c:v>
                </c:pt>
                <c:pt idx="2">
                  <c:v>1</c:v>
                </c:pt>
              </c:numCache>
            </c:numRef>
          </c:val>
        </c:ser>
        <c:ser>
          <c:idx val="1"/>
          <c:order val="1"/>
          <c:tx>
            <c:strRef>
              <c:f>Sheet1!$C$1</c:f>
              <c:strCache>
                <c:ptCount val="1"/>
                <c:pt idx="0">
                  <c:v>Orgánico + directo</c:v>
                </c:pt>
              </c:strCache>
            </c:strRef>
          </c:tx>
          <c:spPr>
            <a:solidFill>
              <a:srgbClr val="1B3A52"/>
            </a:solidFill>
            <a:effectLst/>
          </c:spPr>
          <c:invertIfNegative val="0"/>
          <c:dLbls>
            <c:numFmt formatCode="#,##0" sourceLinked="0"/>
            <c:txPr>
              <a:bodyPr/>
              <a:lstStyle/>
              <a:p>
                <a:pPr>
                  <a:defRPr b="0" i="0" strike="noStrike" sz="1100" u="none">
                    <a:solidFill>
                      <a:srgbClr val="13202A"/>
                    </a:solidFill>
                    <a:latin typeface="+mn-lt"/>
                  </a:defRPr>
                </a:pPr>
              </a:p>
            </c:txPr>
            <c:showLegendKey val="0"/>
            <c:showVal val="1"/>
            <c:showCatName val="0"/>
            <c:showSerName val="0"/>
            <c:showPercent val="0"/>
            <c:showBubbleSize val="0"/>
            <c:showLeaderLines val="0"/>
          </c:dLbls>
          <c:cat>
            <c:multiLvlStrRef>
              <c:f>Sheet1!$A$2:$A$4</c:f>
              <c:multiLvlStrCache>
                <c:ptCount val="3"/>
                <c:lvl>
                  <c:pt idx="0">
                    <c:v>Leads</c:v>
                  </c:pt>
                  <c:pt idx="1">
                    <c:v>Calificados</c:v>
                  </c:pt>
                  <c:pt idx="2">
                    <c:v>Clientes</c:v>
                  </c:pt>
                </c:lvl>
              </c:multiLvlStrCache>
            </c:multiLvlStrRef>
          </c:cat>
          <c:val>
            <c:numRef>
              <c:f>Sheet1!$C$2:$C$4</c:f>
              <c:numCache>
                <c:formatCode>General</c:formatCode>
                <c:ptCount val="3"/>
                <c:pt idx="0">
                  <c:v>186</c:v>
                </c:pt>
                <c:pt idx="1">
                  <c:v>90</c:v>
                </c:pt>
                <c:pt idx="2">
                  <c:v>18</c:v>
                </c:pt>
              </c:numCache>
            </c:numRef>
          </c:val>
        </c:ser>
        <c:dLbls>
          <c:numFmt formatCode="#,##0" sourceLinked="0"/>
          <c:txPr>
            <a:bodyPr/>
            <a:lstStyle/>
            <a:p>
              <a:pPr>
                <a:defRPr b="0" i="0" strike="noStrike" sz="1100" u="none">
                  <a:solidFill>
                    <a:srgbClr val="1320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87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320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Presupuesto 2027</c:v>
                </c:pt>
              </c:strCache>
            </c:strRef>
          </c:tx>
          <c:spPr>
            <a:solidFill>
              <a:schemeClr val="accent1"/>
            </a:solidFill>
            <a:ln w="9525" cap="flat">
              <a:solidFill>
                <a:srgbClr val="F9F9F9"/>
              </a:solidFill>
              <a:prstDash val="solid"/>
              <a:round/>
            </a:ln>
            <a:effectLst/>
          </c:spPr>
          <c:dPt>
            <c:idx val="0"/>
            <c:bubble3D val="0"/>
            <c:spPr>
              <a:solidFill>
                <a:srgbClr val="D9701A"/>
              </a:solidFill>
              <a:effectLst/>
            </c:spPr>
          </c:dPt>
          <c:dPt>
            <c:idx val="1"/>
            <c:bubble3D val="0"/>
            <c:spPr>
              <a:solidFill>
                <a:srgbClr val="1B3A52"/>
              </a:solidFill>
              <a:effectLst/>
            </c:spPr>
          </c:dPt>
          <c:dPt>
            <c:idx val="2"/>
            <c:bubble3D val="0"/>
            <c:spPr>
              <a:solidFill>
                <a:srgbClr val="9FB3C4"/>
              </a:solidFill>
              <a:effectLst/>
            </c:spPr>
          </c:dPt>
          <c:dLbls>
            <c:dLbl>
              <c:idx val="0"/>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Pauta digital (awareness + leads)</c:v>
                </c:pt>
                <c:pt idx="1">
                  <c:v>SEO + GEO</c:v>
                </c:pt>
                <c:pt idx="2">
                  <c:v>Herramientas y medición</c:v>
                </c:pt>
              </c:strCache>
            </c:strRef>
          </c:cat>
          <c:val>
            <c:numRef>
              <c:f>Sheet1!$B$2:$B$4</c:f>
              <c:numCache>
                <c:ptCount val="3"/>
                <c:pt idx="0">
                  <c:v>24</c:v>
                </c:pt>
                <c:pt idx="1">
                  <c:v>22</c:v>
                </c:pt>
                <c:pt idx="2">
                  <c:v>6</c:v>
                </c:pt>
              </c:numCache>
            </c:numRef>
          </c:val>
        </c:ser>
        <c:firstSliceAng val="0"/>
        <c:holeSize val="58"/>
      </c:doughnutChart>
      <c:spPr>
        <a:noFill/>
        <a:ln>
          <a:noFill/>
        </a:ln>
        <a:effectLst/>
      </c:spPr>
    </c:plotArea>
    <c:legend>
      <c:legendPos val="b"/>
      <c:overlay val="0"/>
      <c:txPr>
        <a:bodyPr/>
        <a:lstStyle/>
        <a:p>
          <a:pPr>
            <a:defRPr sz="1000">
              <a:solidFill>
                <a:srgbClr val="1320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02A"/>
                </a:solidFill>
                <a:latin typeface="+mn-lt"/>
              </a:defRPr>
            </a:pPr>
            <a:r>
              <a:rPr sz="1200" b="0" i="0" u="none" strike="noStrike">
                <a:solidFill>
                  <a:srgbClr val="13202A"/>
                </a:solidFill>
                <a:latin typeface="+mn-lt"/>
              </a:rPr>
              <a:t>Revenue de clientes nuevos (US$ miles)</a:t>
            </a:r>
          </a:p>
        </c:rich>
      </c:tx>
      <c:layout/>
      <c:overlay val="0"/>
    </c:title>
    <c:autoTitleDeleted val="0"/>
    <c:plotArea>
      <c:layout/>
      <c:barChart>
        <c:barDir val="col"/>
        <c:grouping val="stacked"/>
        <c:varyColors val="0"/>
        <c:ser>
          <c:idx val="0"/>
          <c:order val="0"/>
          <c:tx>
            <c:strRef>
              <c:f>Sheet1!$B$1</c:f>
              <c:strCache>
                <c:ptCount val="1"/>
                <c:pt idx="0">
                  <c:v>Pauta</c:v>
                </c:pt>
              </c:strCache>
            </c:strRef>
          </c:tx>
          <c:spPr>
            <a:solidFill>
              <a:srgbClr val="D9701A"/>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2026 real</c:v>
                  </c:pt>
                  <c:pt idx="1">
                    <c:v>2027 meta</c:v>
                  </c:pt>
                </c:lvl>
              </c:multiLvlStrCache>
            </c:multiLvlStrRef>
          </c:cat>
          <c:val>
            <c:numRef>
              <c:f>Sheet1!$B$2:$B$3</c:f>
              <c:numCache>
                <c:formatCode>General</c:formatCode>
                <c:ptCount val="2"/>
                <c:pt idx="0">
                  <c:v>14.3</c:v>
                </c:pt>
                <c:pt idx="1">
                  <c:v>25</c:v>
                </c:pt>
              </c:numCache>
            </c:numRef>
          </c:val>
        </c:ser>
        <c:ser>
          <c:idx val="1"/>
          <c:order val="1"/>
          <c:tx>
            <c:strRef>
              <c:f>Sheet1!$C$1</c:f>
              <c:strCache>
                <c:ptCount val="1"/>
                <c:pt idx="0">
                  <c:v>Orgánico + directo (base)</c:v>
                </c:pt>
              </c:strCache>
            </c:strRef>
          </c:tx>
          <c:spPr>
            <a:solidFill>
              <a:srgbClr val="1B3A52"/>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2026 real</c:v>
                  </c:pt>
                  <c:pt idx="1">
                    <c:v>2027 meta</c:v>
                  </c:pt>
                </c:lvl>
              </c:multiLvlStrCache>
            </c:multiLvlStrRef>
          </c:cat>
          <c:val>
            <c:numRef>
              <c:f>Sheet1!$C$2:$C$3</c:f>
              <c:numCache>
                <c:formatCode>General</c:formatCode>
                <c:ptCount val="2"/>
                <c:pt idx="0">
                  <c:v>83</c:v>
                </c:pt>
                <c:pt idx="1">
                  <c:v>83</c:v>
                </c:pt>
              </c:numCache>
            </c:numRef>
          </c:val>
        </c:ser>
        <c:ser>
          <c:idx val="2"/>
          <c:order val="2"/>
          <c:tx>
            <c:strRef>
              <c:f>Sheet1!$D$1</c:f>
              <c:strCache>
                <c:ptCount val="1"/>
                <c:pt idx="0">
                  <c:v>SEO + GEO (nuevo)</c:v>
                </c:pt>
              </c:strCache>
            </c:strRef>
          </c:tx>
          <c:spPr>
            <a:solidFill>
              <a:srgbClr val="1F7A4D"/>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2026 real</c:v>
                  </c:pt>
                  <c:pt idx="1">
                    <c:v>2027 meta</c:v>
                  </c:pt>
                </c:lvl>
              </c:multiLvlStrCache>
            </c:multiLvlStrRef>
          </c:cat>
          <c:val>
            <c:numRef>
              <c:f>Sheet1!$D$2:$D$3</c:f>
              <c:numCache>
                <c:formatCode>General</c:formatCode>
                <c:ptCount val="2"/>
                <c:pt idx="0">
                  <c:v>0</c:v>
                </c:pt>
                <c:pt idx="1">
                  <c:v>28</c:v>
                </c:pt>
              </c:numCache>
            </c:numRef>
          </c:val>
        </c:ser>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87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3202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en 2026 invertimos US$15.000 en pauta (Google Search y Meta): 70 leads, 18 calificados, 1 venta de US$14.330. CPL US$214, costo por lead calificado US$833, CAC US$15.000, ROAS 0,96x sobre revenue (no sobre margen). Orgánico + directo trajo 186 leads, 90 calificados y 18 clientes por US$83.000: 95% de los clientes y 85% del revenue. Calidad: 48% de los leads orgánicos califican (pauta 26%) y 20% de los calificados cierran (pauta 5,6%). Matiz importante: 'orgánico + directo' incluye a quien ya nos conoce (marca, referidos); 8 de cada 10 visitas orgánicas buscan 'GLT' por nombre. El motor funciona, pero solo con demanda que ya existe. Con 1 sola venta por pauta, la muestra es pequeña; no concluimos que la pauta no sirve, sino que como la hicimos no se paga.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el presupuesto crece de forma proporcional a la evidencia. Pauta: US$24K (60% más que 2026) pero rediseñada. Salimos de Meta como canal de captación en frío (queda solo para remarketing, agentes y carriers), concentramos Google en búsquedas de nicho y en español en México (clic de ~US$3 frente a US$16–30 en EE. UU.), y probamos LinkedIn a cuentas objetivo con US$4,8K. SEO + GEO: US$22K para que el canal que ya trae el 95% de los clientes encuentre demanda nueva, no solo la de quien ya nos conoce. Herramientas: US$6K. Reglas: liberación trimestral, meta de costo por cliente ≤US$5K, y si al cierre del Q2 supera US$8K, el saldo se mueve a SEO + GEO. Pendiente con Finanzas: margen bruto y retención por cliente para calcular el valor de vida.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con US$52K buscamos pasar de US$97K a US$130–150K de revenue de clientes nuevos traídos por marketing, y de 19 a ~30 clientes. Supuestos (escenario, no pronóstico): pauta con CPL ~US$200, 35% de leads calificados y 12% de cierre = ~5 clientes y ~US$25K; orgánico + directo se mantiene en US$83K; SEO + GEO suma ~75 leads nuevos sin marca, ~6 clientes y ~US$23–37K, asumiendo que convierten la mitad de bien que los leads de marca. El retorno del primer año sobre el incremento de inversión es cercano a 1x; el caso se completa con la recompra de los clientes (valor de vida), que Finanzas debe confirmar. Si al cierre del Q2 la pauta no cumple, movemos el saldo al motor orgánico.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2600" b="1" dirty="0">
                <a:solidFill>
                  <a:schemeClr val="tx2"/>
                </a:solidFill>
                <a:latin typeface="Cambria" pitchFamily="34" charset="0"/>
                <a:ea typeface="Cambria" pitchFamily="34" charset="-122"/>
                <a:cs typeface="Cambria" pitchFamily="34" charset="-120"/>
              </a:defRPr>
            </a:lvl1pPr>
          </a:lstStyle>
          <a:p>
            <a:pPr indent="0" marL="0">
              <a:buNone/>
            </a:pPr>
            <a:endParaRPr lang="en-US" sz="2600" dirty="0"/>
          </a:p>
        </p:txBody>
      </p:sp>
      <p:sp>
        <p:nvSpPr>
          <p:cNvPr id="3" name="Text 0"/>
          <p:cNvSpPr/>
          <p:nvPr/>
        </p:nvSpPr>
        <p:spPr>
          <a:xfrm>
            <a:off x="457200" y="4846320"/>
            <a:ext cx="6858000" cy="201168"/>
          </a:xfrm>
          <a:prstGeom prst="rect">
            <a:avLst/>
          </a:prstGeom>
          <a:noFill/>
          <a:ln/>
        </p:spPr>
        <p:txBody>
          <a:bodyPr wrap="square" lIns="0" tIns="0" rIns="0" bIns="0" rtlCol="0" anchor="ctr"/>
          <a:lstStyle/>
          <a:p>
            <a:pPr indent="0" marL="0">
              <a:buNone/>
            </a:pPr>
            <a:r>
              <a:rPr lang="en-US" sz="900" dirty="0">
                <a:solidFill>
                  <a:schemeClr val="accent3"/>
                </a:solidFill>
              </a:rPr>
              <a:t>GLT Logistics · Presupuesto de marketing digital 2027 · Confidencial</a:t>
            </a:r>
            <a:endParaRPr lang="en-US" sz="900" dirty="0"/>
          </a:p>
        </p:txBody>
      </p:sp>
      <p:sp>
        <p:nvSpPr>
          <p:cNvPr id="25" name="Slide Number Placeholder 0"/>
          <p:cNvSpPr>
            <a:spLocks noGrp="1"/>
          </p:cNvSpPr>
          <p:nvPr>
            <p:ph type="sldNum" sz="quarter" idx="4294967295"/>
          </p:nvPr>
        </p:nvSpPr>
        <p:spPr>
          <a:xfrm>
            <a:off x="8321040" y="484632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4632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t"/>
          <a:lstStyle/>
          <a:p>
            <a:pPr indent="0" marL="0">
              <a:buNone/>
            </a:pPr>
            <a:r>
              <a:rPr lang="en-US" sz="2600" b="1" dirty="0">
                <a:solidFill>
                  <a:schemeClr val="tx2"/>
                </a:solidFill>
                <a:latin typeface="Cambria" pitchFamily="34" charset="0"/>
                <a:ea typeface="Cambria" pitchFamily="34" charset="-122"/>
                <a:cs typeface="Cambria" pitchFamily="34" charset="-120"/>
              </a:rPr>
              <a:t>2026: el orgánico trajo 95% de los clientes</a:t>
            </a:r>
            <a:endParaRPr lang="en-US" sz="2600" dirty="0"/>
          </a:p>
        </p:txBody>
      </p:sp>
      <p:graphicFrame>
        <p:nvGraphicFramePr>
          <p:cNvPr id="3" name="chart-funnel-2026" descr=""/>
          <p:cNvGraphicFramePr/>
          <p:nvPr/>
        </p:nvGraphicFramePr>
        <p:xfrm>
          <a:off x="365760" y="1005840"/>
          <a:ext cx="4572000" cy="2743200"/>
        </p:xfrm>
        <a:graphic xmlns:a="http://schemas.openxmlformats.org/drawingml/2006/main">
          <a:graphicData uri="http://schemas.openxmlformats.org/drawingml/2006/chart">
            <c:chart xmlns:c="http://schemas.openxmlformats.org/drawingml/2006/chart" r:id="rId1"/>
          </a:graphicData>
        </a:graphic>
      </p:graphicFrame>
      <p:sp>
        <p:nvSpPr>
          <p:cNvPr id="4" name="card-brand-note"/>
          <p:cNvSpPr/>
          <p:nvPr/>
        </p:nvSpPr>
        <p:spPr>
          <a:xfrm>
            <a:off x="457200" y="3840480"/>
            <a:ext cx="4389120" cy="822960"/>
          </a:xfrm>
          <a:prstGeom prst="rect">
            <a:avLst/>
          </a:prstGeom>
          <a:solidFill>
            <a:schemeClr val="bg2"/>
          </a:solidFill>
          <a:ln w="12700">
            <a:solidFill>
              <a:schemeClr val="bg2"/>
            </a:solidFill>
            <a:prstDash val="solid"/>
          </a:ln>
        </p:spPr>
      </p:sp>
      <p:sp>
        <p:nvSpPr>
          <p:cNvPr id="5" name="text-brand-note"/>
          <p:cNvSpPr txBox="1"/>
          <p:nvPr/>
        </p:nvSpPr>
        <p:spPr>
          <a:xfrm>
            <a:off x="594360" y="3886200"/>
            <a:ext cx="4160520" cy="731520"/>
          </a:xfrm>
          <a:prstGeom prst="rect">
            <a:avLst/>
          </a:prstGeom>
          <a:noFill/>
          <a:ln/>
        </p:spPr>
        <p:txBody>
          <a:bodyPr wrap="square" lIns="0" tIns="0" rIns="0" bIns="0" rtlCol="0" anchor="ctr"/>
          <a:lstStyle/>
          <a:p>
            <a:pPr indent="0" marL="0">
              <a:buNone/>
            </a:pPr>
            <a:r>
              <a:rPr lang="en-US" sz="1200" b="1" dirty="0">
                <a:solidFill>
                  <a:schemeClr val="tx2"/>
                </a:solidFill>
              </a:rPr>
              <a:t>Pero el motor depende de la marca: </a:t>
            </a:r>
            <a:pPr indent="0" marL="0">
              <a:buNone/>
            </a:pPr>
            <a:r>
              <a:rPr lang="en-US" sz="1200" dirty="0">
                <a:solidFill>
                  <a:schemeClr val="tx1"/>
                </a:solidFill>
              </a:rPr>
              <a:t>8 de cada 10 visitas orgánicas buscan "GLT" por nombre, y la IA de Google nos cita 7 veces frente a 1.138 de Warp.</a:t>
            </a:r>
            <a:endParaRPr lang="en-US" sz="1200" dirty="0"/>
          </a:p>
        </p:txBody>
      </p:sp>
      <p:sp>
        <p:nvSpPr>
          <p:cNvPr id="6" name="stat-card-1"/>
          <p:cNvSpPr/>
          <p:nvPr/>
        </p:nvSpPr>
        <p:spPr>
          <a:xfrm>
            <a:off x="5212080" y="1005840"/>
            <a:ext cx="3474720" cy="1097280"/>
          </a:xfrm>
          <a:prstGeom prst="rect">
            <a:avLst/>
          </a:prstGeom>
          <a:solidFill>
            <a:schemeClr val="bg2"/>
          </a:solidFill>
          <a:ln w="12700">
            <a:solidFill>
              <a:schemeClr val="bg2"/>
            </a:solidFill>
            <a:prstDash val="solid"/>
          </a:ln>
        </p:spPr>
      </p:sp>
      <p:sp>
        <p:nvSpPr>
          <p:cNvPr id="7" name="stat-num-1"/>
          <p:cNvSpPr txBox="1"/>
          <p:nvPr/>
        </p:nvSpPr>
        <p:spPr>
          <a:xfrm>
            <a:off x="5394960" y="1097280"/>
            <a:ext cx="31089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95%</a:t>
            </a:r>
            <a:endParaRPr lang="en-US" sz="2600" dirty="0"/>
          </a:p>
        </p:txBody>
      </p:sp>
      <p:sp>
        <p:nvSpPr>
          <p:cNvPr id="8" name="stat-label-1"/>
          <p:cNvSpPr txBox="1"/>
          <p:nvPr/>
        </p:nvSpPr>
        <p:spPr>
          <a:xfrm>
            <a:off x="5394960" y="1554480"/>
            <a:ext cx="3154680" cy="502920"/>
          </a:xfrm>
          <a:prstGeom prst="rect">
            <a:avLst/>
          </a:prstGeom>
          <a:noFill/>
          <a:ln/>
        </p:spPr>
        <p:txBody>
          <a:bodyPr wrap="square" lIns="0" tIns="0" rIns="0" bIns="0" rtlCol="0" anchor="t"/>
          <a:lstStyle/>
          <a:p>
            <a:pPr indent="0" marL="0">
              <a:buNone/>
            </a:pPr>
            <a:r>
              <a:rPr lang="en-US" sz="1200" dirty="0">
                <a:solidFill>
                  <a:schemeClr val="tx1"/>
                </a:solidFill>
              </a:rPr>
              <a:t>de los clientes nuevos (18 de 19) y 85% del revenue vinieron de orgánico + directo</a:t>
            </a:r>
            <a:endParaRPr lang="en-US" sz="1200" dirty="0"/>
          </a:p>
        </p:txBody>
      </p:sp>
      <p:sp>
        <p:nvSpPr>
          <p:cNvPr id="9" name="stat-card-2"/>
          <p:cNvSpPr/>
          <p:nvPr/>
        </p:nvSpPr>
        <p:spPr>
          <a:xfrm>
            <a:off x="5212080" y="2240280"/>
            <a:ext cx="3474720" cy="1097280"/>
          </a:xfrm>
          <a:prstGeom prst="rect">
            <a:avLst/>
          </a:prstGeom>
          <a:solidFill>
            <a:schemeClr val="bg2"/>
          </a:solidFill>
          <a:ln w="12700">
            <a:solidFill>
              <a:schemeClr val="bg2"/>
            </a:solidFill>
            <a:prstDash val="solid"/>
          </a:ln>
        </p:spPr>
      </p:sp>
      <p:sp>
        <p:nvSpPr>
          <p:cNvPr id="10" name="stat-num-2"/>
          <p:cNvSpPr txBox="1"/>
          <p:nvPr/>
        </p:nvSpPr>
        <p:spPr>
          <a:xfrm>
            <a:off x="5394960" y="2331720"/>
            <a:ext cx="31089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US$15K</a:t>
            </a:r>
            <a:endParaRPr lang="en-US" sz="2600" dirty="0"/>
          </a:p>
        </p:txBody>
      </p:sp>
      <p:sp>
        <p:nvSpPr>
          <p:cNvPr id="11" name="stat-label-2"/>
          <p:cNvSpPr txBox="1"/>
          <p:nvPr/>
        </p:nvSpPr>
        <p:spPr>
          <a:xfrm>
            <a:off x="5394960" y="2788920"/>
            <a:ext cx="3154680" cy="502920"/>
          </a:xfrm>
          <a:prstGeom prst="rect">
            <a:avLst/>
          </a:prstGeom>
          <a:noFill/>
          <a:ln/>
        </p:spPr>
        <p:txBody>
          <a:bodyPr wrap="square" lIns="0" tIns="0" rIns="0" bIns="0" rtlCol="0" anchor="t"/>
          <a:lstStyle/>
          <a:p>
            <a:pPr indent="0" marL="0">
              <a:buNone/>
            </a:pPr>
            <a:r>
              <a:rPr lang="en-US" sz="1200" dirty="0">
                <a:solidFill>
                  <a:schemeClr val="tx1"/>
                </a:solidFill>
              </a:rPr>
              <a:t>costó cada cliente por pauta en 2026 (1 venta; ROAS 0,96x en revenue)</a:t>
            </a:r>
            <a:endParaRPr lang="en-US" sz="1200" dirty="0"/>
          </a:p>
        </p:txBody>
      </p:sp>
      <p:sp>
        <p:nvSpPr>
          <p:cNvPr id="12" name="stat-card-3"/>
          <p:cNvSpPr/>
          <p:nvPr/>
        </p:nvSpPr>
        <p:spPr>
          <a:xfrm>
            <a:off x="5212080" y="3474720"/>
            <a:ext cx="3474720" cy="1097280"/>
          </a:xfrm>
          <a:prstGeom prst="rect">
            <a:avLst/>
          </a:prstGeom>
          <a:solidFill>
            <a:schemeClr val="bg2"/>
          </a:solidFill>
          <a:ln w="12700">
            <a:solidFill>
              <a:schemeClr val="bg2"/>
            </a:solidFill>
            <a:prstDash val="solid"/>
          </a:ln>
        </p:spPr>
      </p:sp>
      <p:sp>
        <p:nvSpPr>
          <p:cNvPr id="13" name="stat-num-3"/>
          <p:cNvSpPr txBox="1"/>
          <p:nvPr/>
        </p:nvSpPr>
        <p:spPr>
          <a:xfrm>
            <a:off x="5394960" y="3566160"/>
            <a:ext cx="31089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20% vs 5,6%</a:t>
            </a:r>
            <a:endParaRPr lang="en-US" sz="2600" dirty="0"/>
          </a:p>
        </p:txBody>
      </p:sp>
      <p:sp>
        <p:nvSpPr>
          <p:cNvPr id="14" name="stat-label-3"/>
          <p:cNvSpPr txBox="1"/>
          <p:nvPr/>
        </p:nvSpPr>
        <p:spPr>
          <a:xfrm>
            <a:off x="5394960" y="4023360"/>
            <a:ext cx="3154680" cy="502920"/>
          </a:xfrm>
          <a:prstGeom prst="rect">
            <a:avLst/>
          </a:prstGeom>
          <a:noFill/>
          <a:ln/>
        </p:spPr>
        <p:txBody>
          <a:bodyPr wrap="square" lIns="0" tIns="0" rIns="0" bIns="0" rtlCol="0" anchor="t"/>
          <a:lstStyle/>
          <a:p>
            <a:pPr indent="0" marL="0">
              <a:buNone/>
            </a:pPr>
            <a:r>
              <a:rPr lang="en-US" sz="1200" dirty="0">
                <a:solidFill>
                  <a:schemeClr val="tx1"/>
                </a:solidFill>
              </a:rPr>
              <a:t>de los leads calificados se vuelven clientes: orgánico vs. pauta</a:t>
            </a:r>
            <a:endParaRPr lang="en-US" sz="1200" dirty="0"/>
          </a:p>
        </p:txBody>
      </p:sp>
      <p:sp>
        <p:nvSpPr>
          <p:cNvPr id="25" name="Slide Number Placeholder 0"/>
          <p:cNvSpPr>
            <a:spLocks noGrp="1"/>
          </p:cNvSpPr>
          <p:nvPr>
            <p:ph type="sldNum" sz="quarter" idx="4294967295"/>
          </p:nvPr>
        </p:nvSpPr>
        <p:spPr>
          <a:xfrm>
            <a:off x="8321040" y="484632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t"/>
          <a:lstStyle/>
          <a:p>
            <a:pPr indent="0" marL="0">
              <a:buNone/>
            </a:pPr>
            <a:r>
              <a:rPr lang="en-US" sz="2600" b="1" dirty="0">
                <a:solidFill>
                  <a:schemeClr val="tx2"/>
                </a:solidFill>
                <a:latin typeface="Cambria" pitchFamily="34" charset="0"/>
                <a:ea typeface="Cambria" pitchFamily="34" charset="-122"/>
                <a:cs typeface="Cambria" pitchFamily="34" charset="-120"/>
              </a:rPr>
              <a:t>2027: US$52K con la pauta rediseñada</a:t>
            </a:r>
            <a:endParaRPr lang="en-US" sz="2600" dirty="0"/>
          </a:p>
        </p:txBody>
      </p:sp>
      <p:graphicFrame>
        <p:nvGraphicFramePr>
          <p:cNvPr id="3" name="chart-budget-split" descr=""/>
          <p:cNvGraphicFramePr/>
          <p:nvPr/>
        </p:nvGraphicFramePr>
        <p:xfrm>
          <a:off x="365760" y="1005840"/>
          <a:ext cx="3383280" cy="2743200"/>
        </p:xfrm>
        <a:graphic xmlns:a="http://schemas.openxmlformats.org/drawingml/2006/main">
          <a:graphicData uri="http://schemas.openxmlformats.org/drawingml/2006/chart">
            <c:chart xmlns:c="http://schemas.openxmlformats.org/drawingml/2006/chart" r:id="rId1"/>
          </a:graphicData>
        </a:graphic>
      </p:graphicFrame>
      <p:sp>
        <p:nvSpPr>
          <p:cNvPr id="4" name="donut-center"/>
          <p:cNvSpPr txBox="1"/>
          <p:nvPr/>
        </p:nvSpPr>
        <p:spPr>
          <a:xfrm>
            <a:off x="1143000" y="1783080"/>
            <a:ext cx="1828800" cy="685800"/>
          </a:xfrm>
          <a:prstGeom prst="rect">
            <a:avLst/>
          </a:prstGeom>
          <a:noFill/>
          <a:ln/>
        </p:spPr>
        <p:txBody>
          <a:bodyPr wrap="square" lIns="0" tIns="0" rIns="0" bIns="0" rtlCol="0" anchor="ctr"/>
          <a:lstStyle/>
          <a:p>
            <a:pPr algn="ctr" indent="0" marL="0">
              <a:buNone/>
            </a:pPr>
            <a:r>
              <a:rPr lang="en-US" sz="2000" b="1" dirty="0">
                <a:solidFill>
                  <a:schemeClr val="tx2"/>
                </a:solidFill>
              </a:rPr>
              <a:t>US$52K</a:t>
            </a:r>
            <a:endParaRPr lang="en-US" sz="2000" dirty="0"/>
          </a:p>
          <a:p>
            <a:pPr algn="ctr" indent="0" marL="0">
              <a:buNone/>
            </a:pPr>
            <a:r>
              <a:rPr lang="en-US" sz="1100" dirty="0">
                <a:solidFill>
                  <a:schemeClr val="accent3"/>
                </a:solidFill>
              </a:rPr>
              <a:t>total 2027</a:t>
            </a:r>
            <a:endParaRPr lang="en-US" sz="2000" dirty="0"/>
          </a:p>
        </p:txBody>
      </p:sp>
      <p:graphicFrame>
        <p:nvGraphicFramePr>
          <p:cNvPr id="3" name="table-budget"/>
          <p:cNvGraphicFramePr>
            <a:graphicFrameLocks noGrp="1"/>
          </p:cNvGraphicFramePr>
          <p:nvPr>
            <p:extLst>
              <p:ext uri="{D42A27DB-BD31-4B8C-83A1-F6EECF244321}">
                <p14:modId xmlns:p14="http://schemas.microsoft.com/office/powerpoint/2010/main" val="1579011935"/>
              </p:ext>
            </p:extLst>
          </p:nvPr>
        </p:nvGraphicFramePr>
        <p:xfrm>
          <a:off x="4023360" y="1005840"/>
          <a:ext cx="4663440" cy="914400"/>
        </p:xfrm>
        <a:graphic>
          <a:graphicData uri="http://schemas.openxmlformats.org/drawingml/2006/table">
            <a:tbl>
              <a:tblPr/>
              <a:tblGrid>
                <a:gridCol w="960120"/>
                <a:gridCol w="731520"/>
                <a:gridCol w="2971800"/>
              </a:tblGrid>
              <a:tr h="658368">
                <a:tc>
                  <a:txBody>
                    <a:bodyPr/>
                    <a:lstStyle/>
                    <a:p>
                      <a:pPr indent="0" marL="0">
                        <a:buNone/>
                      </a:pPr>
                      <a:r>
                        <a:rPr lang="en-US" sz="1200" b="1" dirty="0">
                          <a:solidFill>
                            <a:srgbClr val="1B3A52"/>
                          </a:solidFill>
                        </a:rPr>
                        <a:t>Pauta</a:t>
                      </a:r>
                      <a:endParaRPr lang="en-US" sz="1200" dirty="0"/>
                    </a:p>
                  </a:txBody>
                  <a:tcPr marL="50800" marR="50800" marT="38100" marB="38100" anchor="ctr">
                    <a:lnL w="0" cap="flat" cmpd="sng" algn="ctr">
                      <a:noFill/>
                    </a:lnL>
                    <a:lnR w="0" cap="flat" cmpd="sng" algn="ctr">
                      <a:noFill/>
                    </a:lnR>
                    <a:lnT w="0" cap="flat" cmpd="sng" algn="ctr">
                      <a:noFill/>
                    </a:lnT>
                    <a:lnB w="9525" cap="flat" cmpd="sng" algn="ctr">
                      <a:solidFill>
                        <a:srgbClr val="D6DCE0"/>
                      </a:solidFill>
                      <a:prstDash val="solid"/>
                      <a:round/>
                      <a:headEnd type="none" w="med" len="med"/>
                      <a:tailEnd type="none" w="med" len="med"/>
                    </a:lnB>
                  </a:tcPr>
                </a:tc>
                <a:tc>
                  <a:txBody>
                    <a:bodyPr/>
                    <a:lstStyle/>
                    <a:p>
                      <a:pPr indent="0" marL="0">
                        <a:buNone/>
                      </a:pPr>
                      <a:r>
                        <a:rPr lang="en-US" sz="1200" b="1" dirty="0">
                          <a:solidFill>
                            <a:srgbClr val="1B3A52"/>
                          </a:solidFill>
                        </a:rPr>
                        <a:t>US$24K</a:t>
                      </a:r>
                      <a:endParaRPr lang="en-US" sz="1200" dirty="0"/>
                    </a:p>
                  </a:txBody>
                  <a:tcPr marL="50800" marR="50800" marT="38100" marB="38100" anchor="ctr">
                    <a:lnL w="0" cap="flat" cmpd="sng" algn="ctr">
                      <a:noFill/>
                    </a:lnL>
                    <a:lnR w="0" cap="flat" cmpd="sng" algn="ctr">
                      <a:noFill/>
                    </a:lnR>
                    <a:lnT w="0" cap="flat" cmpd="sng" algn="ctr">
                      <a:noFill/>
                    </a:lnT>
                    <a:lnB w="9525" cap="flat" cmpd="sng" algn="ctr">
                      <a:solidFill>
                        <a:srgbClr val="D6DCE0"/>
                      </a:solidFill>
                      <a:prstDash val="solid"/>
                      <a:round/>
                      <a:headEnd type="none" w="med" len="med"/>
                      <a:tailEnd type="none" w="med" len="med"/>
                    </a:lnB>
                  </a:tcPr>
                </a:tc>
                <a:tc>
                  <a:txBody>
                    <a:bodyPr/>
                    <a:lstStyle/>
                    <a:p>
                      <a:pPr indent="0" marL="0">
                        <a:buNone/>
                      </a:pPr>
                      <a:r>
                        <a:rPr lang="en-US" sz="1050" dirty="0">
                          <a:solidFill>
                            <a:srgbClr val="13202A"/>
                          </a:solidFill>
                        </a:rPr>
                        <a:t>Google de nicho EE. UU. (45%) y México en español (15%), LinkedIn a cuentas objetivo (20%), remarketing (10%), awareness (10%). Meta solo remarketing</a:t>
                      </a:r>
                      <a:endParaRPr lang="en-US" sz="1050" dirty="0"/>
                    </a:p>
                  </a:txBody>
                  <a:tcPr marL="50800" marR="50800" marT="38100" marB="38100" anchor="ctr">
                    <a:lnL w="0" cap="flat" cmpd="sng" algn="ctr">
                      <a:noFill/>
                    </a:lnL>
                    <a:lnR w="0" cap="flat" cmpd="sng" algn="ctr">
                      <a:noFill/>
                    </a:lnR>
                    <a:lnT w="0" cap="flat" cmpd="sng" algn="ctr">
                      <a:noFill/>
                    </a:lnT>
                    <a:lnB w="9525" cap="flat" cmpd="sng" algn="ctr">
                      <a:solidFill>
                        <a:srgbClr val="D6DCE0"/>
                      </a:solidFill>
                      <a:prstDash val="solid"/>
                      <a:round/>
                      <a:headEnd type="none" w="med" len="med"/>
                      <a:tailEnd type="none" w="med" len="med"/>
                    </a:lnB>
                  </a:tcPr>
                </a:tc>
              </a:tr>
              <a:tr h="658368">
                <a:tc>
                  <a:txBody>
                    <a:bodyPr/>
                    <a:lstStyle/>
                    <a:p>
                      <a:pPr indent="0" marL="0">
                        <a:buNone/>
                      </a:pPr>
                      <a:r>
                        <a:rPr lang="en-US" sz="1200" b="1" dirty="0">
                          <a:solidFill>
                            <a:srgbClr val="1B3A52"/>
                          </a:solidFill>
                        </a:rPr>
                        <a:t>SEO + GEO</a:t>
                      </a:r>
                      <a:endParaRPr lang="en-US" sz="1200" dirty="0"/>
                    </a:p>
                  </a:txBody>
                  <a:tcPr marL="50800" marR="50800" marT="38100" marB="38100" anchor="ctr">
                    <a:lnL w="0" cap="flat" cmpd="sng" algn="ctr">
                      <a:noFill/>
                    </a:lnL>
                    <a:lnR w="0" cap="flat" cmpd="sng" algn="ctr">
                      <a:noFill/>
                    </a:lnR>
                    <a:lnT w="0" cap="flat" cmpd="sng" algn="ctr">
                      <a:noFill/>
                    </a:lnT>
                    <a:lnB w="9525" cap="flat" cmpd="sng" algn="ctr">
                      <a:solidFill>
                        <a:srgbClr val="D6DCE0"/>
                      </a:solidFill>
                      <a:prstDash val="solid"/>
                      <a:round/>
                      <a:headEnd type="none" w="med" len="med"/>
                      <a:tailEnd type="none" w="med" len="med"/>
                    </a:lnB>
                  </a:tcPr>
                </a:tc>
                <a:tc>
                  <a:txBody>
                    <a:bodyPr/>
                    <a:lstStyle/>
                    <a:p>
                      <a:pPr indent="0" marL="0">
                        <a:buNone/>
                      </a:pPr>
                      <a:r>
                        <a:rPr lang="en-US" sz="1200" b="1" dirty="0">
                          <a:solidFill>
                            <a:srgbClr val="1B3A52"/>
                          </a:solidFill>
                        </a:rPr>
                        <a:t>US$22K</a:t>
                      </a:r>
                      <a:endParaRPr lang="en-US" sz="1200" dirty="0"/>
                    </a:p>
                  </a:txBody>
                  <a:tcPr marL="50800" marR="50800" marT="38100" marB="38100" anchor="ctr">
                    <a:lnL w="0" cap="flat" cmpd="sng" algn="ctr">
                      <a:noFill/>
                    </a:lnL>
                    <a:lnR w="0" cap="flat" cmpd="sng" algn="ctr">
                      <a:noFill/>
                    </a:lnR>
                    <a:lnT w="0" cap="flat" cmpd="sng" algn="ctr">
                      <a:noFill/>
                    </a:lnT>
                    <a:lnB w="9525" cap="flat" cmpd="sng" algn="ctr">
                      <a:solidFill>
                        <a:srgbClr val="D6DCE0"/>
                      </a:solidFill>
                      <a:prstDash val="solid"/>
                      <a:round/>
                      <a:headEnd type="none" w="med" len="med"/>
                      <a:tailEnd type="none" w="med" len="med"/>
                    </a:lnB>
                  </a:tcPr>
                </a:tc>
                <a:tc>
                  <a:txBody>
                    <a:bodyPr/>
                    <a:lstStyle/>
                    <a:p>
                      <a:pPr indent="0" marL="0">
                        <a:buNone/>
                      </a:pPr>
                      <a:r>
                        <a:rPr lang="en-US" sz="1050" dirty="0">
                          <a:solidFill>
                            <a:srgbClr val="13202A"/>
                          </a:solidFill>
                        </a:rPr>
                        <a:t>Arreglos técnicos, landings de forwarders, brokers y Magaya, páginas en español, 6–8 videos de YouTube, directorios y reseñas</a:t>
                      </a:r>
                      <a:endParaRPr lang="en-US" sz="1050" dirty="0"/>
                    </a:p>
                  </a:txBody>
                  <a:tcPr marL="50800" marR="50800" marT="38100" marB="38100" anchor="ctr">
                    <a:lnL w="0" cap="flat" cmpd="sng" algn="ctr">
                      <a:noFill/>
                    </a:lnL>
                    <a:lnR w="0" cap="flat" cmpd="sng" algn="ctr">
                      <a:noFill/>
                    </a:lnR>
                    <a:lnT w="0" cap="flat" cmpd="sng" algn="ctr">
                      <a:noFill/>
                    </a:lnT>
                    <a:lnB w="9525" cap="flat" cmpd="sng" algn="ctr">
                      <a:solidFill>
                        <a:srgbClr val="D6DCE0"/>
                      </a:solidFill>
                      <a:prstDash val="solid"/>
                      <a:round/>
                      <a:headEnd type="none" w="med" len="med"/>
                      <a:tailEnd type="none" w="med" len="med"/>
                    </a:lnB>
                  </a:tcPr>
                </a:tc>
              </a:tr>
              <a:tr h="658368">
                <a:tc>
                  <a:txBody>
                    <a:bodyPr/>
                    <a:lstStyle/>
                    <a:p>
                      <a:pPr indent="0" marL="0">
                        <a:buNone/>
                      </a:pPr>
                      <a:r>
                        <a:rPr lang="en-US" sz="1200" b="1" dirty="0">
                          <a:solidFill>
                            <a:srgbClr val="1B3A52"/>
                          </a:solidFill>
                        </a:rPr>
                        <a:t>Herramientas</a:t>
                      </a:r>
                      <a:endParaRPr lang="en-US" sz="1200" dirty="0"/>
                    </a:p>
                  </a:txBody>
                  <a:tcPr marL="50800" marR="50800" marT="38100" marB="38100" anchor="ctr">
                    <a:lnL w="0" cap="flat" cmpd="sng" algn="ctr">
                      <a:noFill/>
                    </a:lnL>
                    <a:lnR w="0" cap="flat" cmpd="sng" algn="ctr">
                      <a:noFill/>
                    </a:lnR>
                    <a:lnT w="0" cap="flat" cmpd="sng" algn="ctr">
                      <a:noFill/>
                    </a:lnT>
                    <a:lnB w="9525" cap="flat" cmpd="sng" algn="ctr">
                      <a:solidFill>
                        <a:srgbClr val="D6DCE0"/>
                      </a:solidFill>
                      <a:prstDash val="solid"/>
                      <a:round/>
                      <a:headEnd type="none" w="med" len="med"/>
                      <a:tailEnd type="none" w="med" len="med"/>
                    </a:lnB>
                  </a:tcPr>
                </a:tc>
                <a:tc>
                  <a:txBody>
                    <a:bodyPr/>
                    <a:lstStyle/>
                    <a:p>
                      <a:pPr indent="0" marL="0">
                        <a:buNone/>
                      </a:pPr>
                      <a:r>
                        <a:rPr lang="en-US" sz="1200" b="1" dirty="0">
                          <a:solidFill>
                            <a:srgbClr val="1B3A52"/>
                          </a:solidFill>
                        </a:rPr>
                        <a:t>US$6K</a:t>
                      </a:r>
                      <a:endParaRPr lang="en-US" sz="1200" dirty="0"/>
                    </a:p>
                  </a:txBody>
                  <a:tcPr marL="50800" marR="50800" marT="38100" marB="38100" anchor="ctr">
                    <a:lnL w="0" cap="flat" cmpd="sng" algn="ctr">
                      <a:noFill/>
                    </a:lnL>
                    <a:lnR w="0" cap="flat" cmpd="sng" algn="ctr">
                      <a:noFill/>
                    </a:lnR>
                    <a:lnT w="0" cap="flat" cmpd="sng" algn="ctr">
                      <a:noFill/>
                    </a:lnT>
                    <a:lnB w="9525" cap="flat" cmpd="sng" algn="ctr">
                      <a:solidFill>
                        <a:srgbClr val="D6DCE0"/>
                      </a:solidFill>
                      <a:prstDash val="solid"/>
                      <a:round/>
                      <a:headEnd type="none" w="med" len="med"/>
                      <a:tailEnd type="none" w="med" len="med"/>
                    </a:lnB>
                  </a:tcPr>
                </a:tc>
                <a:tc>
                  <a:txBody>
                    <a:bodyPr/>
                    <a:lstStyle/>
                    <a:p>
                      <a:pPr indent="0" marL="0">
                        <a:buNone/>
                      </a:pPr>
                      <a:r>
                        <a:rPr lang="en-US" sz="1050" dirty="0">
                          <a:solidFill>
                            <a:srgbClr val="13202A"/>
                          </a:solidFill>
                        </a:rPr>
                        <a:t>Datos SEO y de IA, monitoreo de anuncios de la competencia, medición hasta el primer envío</a:t>
                      </a:r>
                      <a:endParaRPr lang="en-US" sz="1050" dirty="0"/>
                    </a:p>
                  </a:txBody>
                  <a:tcPr marL="50800" marR="50800" marT="38100" marB="38100" anchor="ctr">
                    <a:lnL w="0" cap="flat" cmpd="sng" algn="ctr">
                      <a:noFill/>
                    </a:lnL>
                    <a:lnR w="0" cap="flat" cmpd="sng" algn="ctr">
                      <a:noFill/>
                    </a:lnR>
                    <a:lnT w="0" cap="flat" cmpd="sng" algn="ctr">
                      <a:noFill/>
                    </a:lnT>
                    <a:lnB w="9525" cap="flat" cmpd="sng" algn="ctr">
                      <a:solidFill>
                        <a:srgbClr val="D6DCE0"/>
                      </a:solidFill>
                      <a:prstDash val="solid"/>
                      <a:round/>
                      <a:headEnd type="none" w="med" len="med"/>
                      <a:tailEnd type="none" w="med" len="med"/>
                    </a:lnB>
                  </a:tcPr>
                </a:tc>
              </a:tr>
            </a:tbl>
          </a:graphicData>
        </a:graphic>
      </p:graphicFrame>
      <p:sp>
        <p:nvSpPr>
          <p:cNvPr id="6" name="card-rules"/>
          <p:cNvSpPr/>
          <p:nvPr/>
        </p:nvSpPr>
        <p:spPr>
          <a:xfrm>
            <a:off x="4023360" y="3108960"/>
            <a:ext cx="4663440" cy="1280160"/>
          </a:xfrm>
          <a:prstGeom prst="rect">
            <a:avLst/>
          </a:prstGeom>
          <a:solidFill>
            <a:schemeClr val="bg2"/>
          </a:solidFill>
          <a:ln w="12700">
            <a:solidFill>
              <a:schemeClr val="bg2"/>
            </a:solidFill>
            <a:prstDash val="solid"/>
          </a:ln>
        </p:spPr>
      </p:sp>
      <p:sp>
        <p:nvSpPr>
          <p:cNvPr id="7" name="text-rules"/>
          <p:cNvSpPr txBox="1"/>
          <p:nvPr/>
        </p:nvSpPr>
        <p:spPr>
          <a:xfrm>
            <a:off x="4160520" y="3172968"/>
            <a:ext cx="4434840" cy="1188720"/>
          </a:xfrm>
          <a:prstGeom prst="rect">
            <a:avLst/>
          </a:prstGeom>
          <a:noFill/>
          <a:ln/>
        </p:spPr>
        <p:txBody>
          <a:bodyPr wrap="square" lIns="0" tIns="0" rIns="0" bIns="0" rtlCol="0" anchor="t"/>
          <a:lstStyle/>
          <a:p>
            <a:pPr indent="0" marL="0">
              <a:spcAft>
                <a:spcPts val="200"/>
              </a:spcAft>
              <a:buNone/>
            </a:pPr>
            <a:r>
              <a:rPr lang="en-US" sz="1300" b="1" dirty="0">
                <a:solidFill>
                  <a:schemeClr val="tx2"/>
                </a:solidFill>
              </a:rPr>
              <a:t>Reglas para que la pauta sí se pague</a:t>
            </a:r>
            <a:endParaRPr lang="en-US" sz="1100" dirty="0"/>
          </a:p>
          <a:p>
            <a:pPr marL="342900" indent="-342900">
              <a:spcAft>
                <a:spcPts val="200"/>
              </a:spcAft>
              <a:buSzPct val="100000"/>
              <a:buChar char="•"/>
            </a:pPr>
            <a:r>
              <a:rPr lang="en-US" sz="1100" dirty="0">
                <a:solidFill>
                  <a:schemeClr val="tx1"/>
                </a:solidFill>
              </a:rPr>
              <a:t>Se libera por trimestre: US$5K, 6K, 6,5K y 6,5K.</a:t>
            </a:r>
            <a:endParaRPr lang="en-US" sz="1100" dirty="0"/>
          </a:p>
          <a:p>
            <a:pPr marL="342900" indent="-342900">
              <a:spcAft>
                <a:spcPts val="200"/>
              </a:spcAft>
              <a:buSzPct val="100000"/>
              <a:buChar char="•"/>
            </a:pPr>
            <a:r>
              <a:rPr lang="en-US" sz="1100" dirty="0">
                <a:solidFill>
                  <a:schemeClr val="tx1"/>
                </a:solidFill>
              </a:rPr>
              <a:t>Meta: costo por cliente ≤ US$5K (2026: US$15K) y 12% de calificados que cierran (2026: 5,6%).</a:t>
            </a:r>
            <a:endParaRPr lang="en-US" sz="1100" dirty="0"/>
          </a:p>
          <a:p>
            <a:pPr marL="342900" indent="-342900">
              <a:spcAft>
                <a:spcPts val="200"/>
              </a:spcAft>
              <a:buSzPct val="100000"/>
              <a:buChar char="•"/>
            </a:pPr>
            <a:r>
              <a:rPr lang="en-US" sz="1100" dirty="0">
                <a:solidFill>
                  <a:schemeClr val="tx1"/>
                </a:solidFill>
              </a:rPr>
              <a:t>Si al cierre del Q2 el costo por cliente supera US$8K, el saldo pasa a SEO + GEO.</a:t>
            </a:r>
            <a:endParaRPr lang="en-US" sz="1100" dirty="0"/>
          </a:p>
        </p:txBody>
      </p:sp>
      <p:sp>
        <p:nvSpPr>
          <p:cNvPr id="25" name="Slide Number Placeholder 0"/>
          <p:cNvSpPr>
            <a:spLocks noGrp="1"/>
          </p:cNvSpPr>
          <p:nvPr>
            <p:ph type="sldNum" sz="quarter" idx="4294967295"/>
          </p:nvPr>
        </p:nvSpPr>
        <p:spPr>
          <a:xfrm>
            <a:off x="8321040" y="484632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t"/>
          <a:lstStyle/>
          <a:p>
            <a:pPr indent="0" marL="0">
              <a:buNone/>
            </a:pPr>
            <a:r>
              <a:rPr lang="en-US" sz="2600" b="1" dirty="0">
                <a:solidFill>
                  <a:schemeClr val="tx2"/>
                </a:solidFill>
                <a:latin typeface="Cambria" pitchFamily="34" charset="0"/>
                <a:ea typeface="Cambria" pitchFamily="34" charset="-122"/>
                <a:cs typeface="Cambria" pitchFamily="34" charset="-120"/>
              </a:rPr>
              <a:t>Meta 2027: de US$97K a US$130–150K</a:t>
            </a:r>
            <a:endParaRPr lang="en-US" sz="2600" dirty="0"/>
          </a:p>
        </p:txBody>
      </p:sp>
      <p:graphicFrame>
        <p:nvGraphicFramePr>
          <p:cNvPr id="3" name="chart-revenue" descr=""/>
          <p:cNvGraphicFramePr/>
          <p:nvPr/>
        </p:nvGraphicFramePr>
        <p:xfrm>
          <a:off x="365760" y="1005840"/>
          <a:ext cx="4206240" cy="3611880"/>
        </p:xfrm>
        <a:graphic xmlns:a="http://schemas.openxmlformats.org/drawingml/2006/main">
          <a:graphicData uri="http://schemas.openxmlformats.org/drawingml/2006/chart">
            <c:chart xmlns:c="http://schemas.openxmlformats.org/drawingml/2006/chart" r:id="rId1"/>
          </a:graphicData>
        </a:graphic>
      </p:graphicFrame>
      <p:sp>
        <p:nvSpPr>
          <p:cNvPr id="4" name="card-gain-lose"/>
          <p:cNvSpPr/>
          <p:nvPr/>
        </p:nvSpPr>
        <p:spPr>
          <a:xfrm>
            <a:off x="4846320" y="1005840"/>
            <a:ext cx="3840480" cy="1783080"/>
          </a:xfrm>
          <a:prstGeom prst="rect">
            <a:avLst/>
          </a:prstGeom>
          <a:solidFill>
            <a:schemeClr val="bg2"/>
          </a:solidFill>
          <a:ln w="12700">
            <a:solidFill>
              <a:schemeClr val="bg2"/>
            </a:solidFill>
            <a:prstDash val="solid"/>
          </a:ln>
        </p:spPr>
      </p:sp>
      <p:sp>
        <p:nvSpPr>
          <p:cNvPr id="5" name="text-gain-lose"/>
          <p:cNvSpPr txBox="1"/>
          <p:nvPr/>
        </p:nvSpPr>
        <p:spPr>
          <a:xfrm>
            <a:off x="4983480" y="1069848"/>
            <a:ext cx="3611880" cy="1664208"/>
          </a:xfrm>
          <a:prstGeom prst="rect">
            <a:avLst/>
          </a:prstGeom>
          <a:noFill/>
          <a:ln/>
        </p:spPr>
        <p:txBody>
          <a:bodyPr wrap="square" lIns="0" tIns="0" rIns="0" bIns="0" rtlCol="0" anchor="t"/>
          <a:lstStyle/>
          <a:p>
            <a:pPr indent="0" marL="0">
              <a:spcAft>
                <a:spcPts val="300"/>
              </a:spcAft>
              <a:buNone/>
            </a:pPr>
            <a:r>
              <a:rPr lang="en-US" sz="1300" b="1" dirty="0">
                <a:solidFill>
                  <a:schemeClr val="accent4"/>
                </a:solidFill>
              </a:rPr>
              <a:t>Lo que ganamos</a:t>
            </a:r>
            <a:endParaRPr lang="en-US" sz="1150" dirty="0"/>
          </a:p>
          <a:p>
            <a:pPr indent="0" marL="0">
              <a:spcAft>
                <a:spcPts val="300"/>
              </a:spcAft>
              <a:buNone/>
            </a:pPr>
            <a:r>
              <a:rPr lang="en-US" sz="1150" dirty="0">
                <a:solidFill>
                  <a:schemeClr val="tx1"/>
                </a:solidFill>
              </a:rPr>
              <a:t>Clientes de quien aún no nos conoce: forwarders, brokers y exportadores mexicanos.</a:t>
            </a:r>
            <a:endParaRPr lang="en-US" sz="1150" dirty="0"/>
          </a:p>
          <a:p>
            <a:pPr indent="0" marL="0">
              <a:spcAft>
                <a:spcPts val="300"/>
              </a:spcAft>
              <a:buNone/>
            </a:pPr>
            <a:r>
              <a:rPr lang="en-US" sz="1300" b="1" dirty="0">
                <a:solidFill>
                  <a:schemeClr val="accent5"/>
                </a:solidFill>
              </a:rPr>
              <a:t>Lo que perdemos si no lo hacemos</a:t>
            </a:r>
            <a:endParaRPr lang="en-US" sz="1150" dirty="0"/>
          </a:p>
          <a:p>
            <a:pPr indent="0" marL="0">
              <a:spcAft>
                <a:spcPts val="300"/>
              </a:spcAft>
              <a:buNone/>
            </a:pPr>
            <a:r>
              <a:rPr lang="en-US" sz="1150" dirty="0">
                <a:solidFill>
                  <a:schemeClr val="tx1"/>
                </a:solidFill>
              </a:rPr>
              <a:t>Seguimos dependiendo de la marca y los referidos, mientras Warp, Go Freight y ExFreight son la respuesta por defecto en Google y en la IA.</a:t>
            </a:r>
            <a:endParaRPr lang="en-US" sz="1150" dirty="0"/>
          </a:p>
        </p:txBody>
      </p:sp>
      <p:sp>
        <p:nvSpPr>
          <p:cNvPr id="6" name="kpi-num-1"/>
          <p:cNvSpPr txBox="1"/>
          <p:nvPr/>
        </p:nvSpPr>
        <p:spPr>
          <a:xfrm>
            <a:off x="4846320" y="2971800"/>
            <a:ext cx="1828800" cy="41148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~30</a:t>
            </a:r>
            <a:endParaRPr lang="en-US" sz="2200" dirty="0"/>
          </a:p>
        </p:txBody>
      </p:sp>
      <p:sp>
        <p:nvSpPr>
          <p:cNvPr id="7" name="kpi-label-1"/>
          <p:cNvSpPr txBox="1"/>
          <p:nvPr/>
        </p:nvSpPr>
        <p:spPr>
          <a:xfrm>
            <a:off x="4846320" y="3383280"/>
            <a:ext cx="1828800" cy="365760"/>
          </a:xfrm>
          <a:prstGeom prst="rect">
            <a:avLst/>
          </a:prstGeom>
          <a:noFill/>
          <a:ln/>
        </p:spPr>
        <p:txBody>
          <a:bodyPr wrap="square" lIns="0" tIns="0" rIns="0" bIns="0" rtlCol="0" anchor="t"/>
          <a:lstStyle/>
          <a:p>
            <a:pPr indent="0" marL="0">
              <a:buNone/>
            </a:pPr>
            <a:r>
              <a:rPr lang="en-US" sz="1100" dirty="0">
                <a:solidFill>
                  <a:schemeClr val="tx1"/>
                </a:solidFill>
              </a:rPr>
              <a:t>clientes nuevos (2026: 19)</a:t>
            </a:r>
            <a:endParaRPr lang="en-US" sz="1100" dirty="0"/>
          </a:p>
        </p:txBody>
      </p:sp>
      <p:sp>
        <p:nvSpPr>
          <p:cNvPr id="8" name="kpi-num-2"/>
          <p:cNvSpPr txBox="1"/>
          <p:nvPr/>
        </p:nvSpPr>
        <p:spPr>
          <a:xfrm>
            <a:off x="6812280" y="2971800"/>
            <a:ext cx="1828800" cy="41148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≤US$5K</a:t>
            </a:r>
            <a:endParaRPr lang="en-US" sz="2200" dirty="0"/>
          </a:p>
        </p:txBody>
      </p:sp>
      <p:sp>
        <p:nvSpPr>
          <p:cNvPr id="9" name="kpi-label-2"/>
          <p:cNvSpPr txBox="1"/>
          <p:nvPr/>
        </p:nvSpPr>
        <p:spPr>
          <a:xfrm>
            <a:off x="6812280" y="3383280"/>
            <a:ext cx="1828800" cy="365760"/>
          </a:xfrm>
          <a:prstGeom prst="rect">
            <a:avLst/>
          </a:prstGeom>
          <a:noFill/>
          <a:ln/>
        </p:spPr>
        <p:txBody>
          <a:bodyPr wrap="square" lIns="0" tIns="0" rIns="0" bIns="0" rtlCol="0" anchor="t"/>
          <a:lstStyle/>
          <a:p>
            <a:pPr indent="0" marL="0">
              <a:buNone/>
            </a:pPr>
            <a:r>
              <a:rPr lang="en-US" sz="1100" dirty="0">
                <a:solidFill>
                  <a:schemeClr val="tx1"/>
                </a:solidFill>
              </a:rPr>
              <a:t>costo por cliente en pauta</a:t>
            </a:r>
            <a:endParaRPr lang="en-US" sz="1100" dirty="0"/>
          </a:p>
        </p:txBody>
      </p:sp>
      <p:sp>
        <p:nvSpPr>
          <p:cNvPr id="10" name="kpi-num-3"/>
          <p:cNvSpPr txBox="1"/>
          <p:nvPr/>
        </p:nvSpPr>
        <p:spPr>
          <a:xfrm>
            <a:off x="4846320" y="3840480"/>
            <a:ext cx="1828800" cy="41148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≥40%</a:t>
            </a:r>
            <a:endParaRPr lang="en-US" sz="2200" dirty="0"/>
          </a:p>
        </p:txBody>
      </p:sp>
      <p:sp>
        <p:nvSpPr>
          <p:cNvPr id="11" name="kpi-label-3"/>
          <p:cNvSpPr txBox="1"/>
          <p:nvPr/>
        </p:nvSpPr>
        <p:spPr>
          <a:xfrm>
            <a:off x="4846320" y="4251960"/>
            <a:ext cx="1828800" cy="365760"/>
          </a:xfrm>
          <a:prstGeom prst="rect">
            <a:avLst/>
          </a:prstGeom>
          <a:noFill/>
          <a:ln/>
        </p:spPr>
        <p:txBody>
          <a:bodyPr wrap="square" lIns="0" tIns="0" rIns="0" bIns="0" rtlCol="0" anchor="t"/>
          <a:lstStyle/>
          <a:p>
            <a:pPr indent="0" marL="0">
              <a:buNone/>
            </a:pPr>
            <a:r>
              <a:rPr lang="en-US" sz="1100" dirty="0">
                <a:solidFill>
                  <a:schemeClr val="tx1"/>
                </a:solidFill>
              </a:rPr>
              <a:t>tráfico orgánico sin marca</a:t>
            </a:r>
            <a:endParaRPr lang="en-US" sz="1100" dirty="0"/>
          </a:p>
        </p:txBody>
      </p:sp>
      <p:sp>
        <p:nvSpPr>
          <p:cNvPr id="12" name="kpi-num-4"/>
          <p:cNvSpPr txBox="1"/>
          <p:nvPr/>
        </p:nvSpPr>
        <p:spPr>
          <a:xfrm>
            <a:off x="6812280" y="3840480"/>
            <a:ext cx="1828800" cy="41148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7 → 70+</a:t>
            </a:r>
            <a:endParaRPr lang="en-US" sz="2200" dirty="0"/>
          </a:p>
        </p:txBody>
      </p:sp>
      <p:sp>
        <p:nvSpPr>
          <p:cNvPr id="13" name="kpi-label-4"/>
          <p:cNvSpPr txBox="1"/>
          <p:nvPr/>
        </p:nvSpPr>
        <p:spPr>
          <a:xfrm>
            <a:off x="6812280" y="4251960"/>
            <a:ext cx="1828800" cy="365760"/>
          </a:xfrm>
          <a:prstGeom prst="rect">
            <a:avLst/>
          </a:prstGeom>
          <a:noFill/>
          <a:ln/>
        </p:spPr>
        <p:txBody>
          <a:bodyPr wrap="square" lIns="0" tIns="0" rIns="0" bIns="0" rtlCol="0" anchor="t"/>
          <a:lstStyle/>
          <a:p>
            <a:pPr indent="0" marL="0">
              <a:buNone/>
            </a:pPr>
            <a:r>
              <a:rPr lang="en-US" sz="1100" dirty="0">
                <a:solidFill>
                  <a:schemeClr val="tx1"/>
                </a:solidFill>
              </a:rPr>
              <a:t>citas en la IA de Google</a:t>
            </a:r>
            <a:endParaRPr lang="en-US" sz="1100" dirty="0"/>
          </a:p>
        </p:txBody>
      </p:sp>
      <p:sp>
        <p:nvSpPr>
          <p:cNvPr id="25" name="Slide Number Placeholder 0"/>
          <p:cNvSpPr>
            <a:spLocks noGrp="1"/>
          </p:cNvSpPr>
          <p:nvPr>
            <p:ph type="sldNum" sz="quarter" idx="4294967295"/>
          </p:nvPr>
        </p:nvSpPr>
        <p:spPr>
          <a:xfrm>
            <a:off x="8321040" y="484632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theme/theme1.xml><?xml version="1.0" encoding="utf-8"?>
<a:theme xmlns:a="http://schemas.openxmlformats.org/drawingml/2006/main" name="GLT Budget 2027">
  <a:themeElements>
    <a:clrScheme name="GLT Budget 2027">
      <a:dk1>
        <a:srgbClr val="13202A"/>
      </a:dk1>
      <a:lt1>
        <a:srgbClr val="FFFFFF"/>
      </a:lt1>
      <a:dk2>
        <a:srgbClr val="1B3A52"/>
      </a:dk2>
      <a:lt2>
        <a:srgbClr val="EEF2F5"/>
      </a:lt2>
      <a:accent1>
        <a:srgbClr val="D9701A"/>
      </a:accent1>
      <a:accent2>
        <a:srgbClr val="1B3A52"/>
      </a:accent2>
      <a:accent3>
        <a:srgbClr val="5A6873"/>
      </a:accent3>
      <a:accent4>
        <a:srgbClr val="1F7A4D"/>
      </a:accent4>
      <a:accent5>
        <a:srgbClr val="B3261E"/>
      </a:accent5>
      <a:accent6>
        <a:srgbClr val="9FB3C4"/>
      </a:accent6>
      <a:hlink>
        <a:srgbClr val="1B3A52"/>
      </a:hlink>
      <a:folHlink>
        <a:srgbClr val="5A6873"/>
      </a:folHlink>
    </a:clrScheme>
    <a:fontScheme name="GLT Budget 2027">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GLT Logistics · Presupuesto de marketing digital 2027</dc:title>
  <dc:subject>PptxGenJS Presentation</dc:subject>
  <dc:creator>GLT Logistics · Marketing</dc:creator>
  <cp:lastModifiedBy>GLT Logistics · Marketing</cp:lastModifiedBy>
  <cp:revision>1</cp:revision>
  <dcterms:created xsi:type="dcterms:W3CDTF">2026-10-28T15:33:35Z</dcterms:created>
  <dcterms:modified xsi:type="dcterms:W3CDTF">2026-10-28T15:33:35Z</dcterms:modified>
</cp:coreProperties>
</file>